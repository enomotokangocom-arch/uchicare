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はじめに" id="{f72cb743-1473-2a64-687d-d35872e82cf8}">
          <p14:sldIdLst>
            <p14:sldId id="256"/>
            <p14:sldId id="257"/>
          </p14:sldIdLst>
        </p14:section>
        <p14:section name="理念と支援" id="{3efc34d8-f687-18b2-71a8-a96f798124dc}">
          <p14:sldIdLst>
            <p14:sldId id="258"/>
            <p14:sldId id="259"/>
          </p14:sldIdLst>
        </p14:section>
        <p14:section name="仕事と環境" id="{d1a5fd41-a513-1ff3-e184-d96470471580}">
          <p14:sldIdLst>
            <p14:sldId id="260"/>
            <p14:sldId id="261"/>
            <p14:sldId id="262"/>
            <p14:sldId id="263"/>
          </p14:sldIdLst>
        </p14:section>
        <p14:section name="一緒に働く" id="{2bb90be9-943a-2fd6-2ddc-b11abd6549c7}">
          <p14:sldIdLst>
            <p14:sldId id="264"/>
            <p14:sldId id="265"/>
          </p14:sldIdLst>
        </p14:section>
        <p14:section name="募集と見学" id="{71332293-4961-cc53-f218-6401ed6ad95e}">
          <p14:sldIdLst>
            <p14:sldId id="266"/>
            <p14:sldId id="267"/>
          </p14:sldIdLst>
        </p14:section>
        <p14:section name="作成者用（公開前に削除）" id="{4c1be000-54ae-4392-602d-5f09c525febd}">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補足メモ】本日はお時間をいただきありがとうございます。この資料では、私たちが大切にしている考え方、ケアマネジャーとしての仕事内容、相談できる体制や働く環境を順にご説明します。15分ほどで説明し、そのあと質問の時間をとります。気になる点は途中でも遠慮なく聞いてください。
※写真は法人全体の集合写真です。写っている方全員がケアプランセンターの職員ではない点に注意（所属と掲載許諾は要確認）。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【補足メモ】運営会社は株式会社Uchi careで、訪問看護・リハビリテーションも行っています。同じ法人に医療職がいるので、相談しやすい環境づくりを目指していますが、ケアプランでは法人内のサービスを優先するのではなく、公正・中立にご本人に合うサービスを一緒に考えます。勤務地（事業所の所在地）は本社と分けてご説明ください［要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補足メモ】理念は大きな言葉ですが、ケアマネジャーの日々の仕事に置き換えると「本人の暮らしや楽しみを目標にする」「人と人をつなぐ」「支援が届いていない困りごとに気づく」ということだと考えています。ご自身が大切にしてきた支援と重なる部分があるか、ぜひ教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補足メモ】右側は実際の事例ではなく、私たちが大切にしたい関わり方を説明するための例です。応募者の方がこれまで大切にしてきた関わり方を聞くと、価値観の重なりやずれを確認しやすくなります。（例：『これまでの支援で大切にしてきたことは何です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補足メモ】ここでは居宅介護支援の一般的な流れをご紹介しています。当事業所での担当件数の目安、担当エリア、請求業務の分担などは、最新の情報を確認したうえでお伝えします［要確認］。経験のある方には、これまでの担当件数や業務の進め方を伺い、違いがあれば面談で確認し合い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補足メモ】ケアマネジャーは一人で判断を背負いやすい仕事です。迷ったときに経験のあるケアマネジャーへ相談できること、小さな疑問も共有できる関係を大切にしています。相談の頻度や担当者、入職後の同行・引き継ぎの方法は、事実を確認してからお伝えします［要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補足メモ】業務用のパソコン・スマートフォン・タブレットと社有車を貸与しています（対象や条件は最新情報を確認）。直行直帰、在宅勤務、残業の状況は現時点で資料に断定して書いていません。ご質問があれば、確認した事実だけをお伝えしてください［要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補足メモ】年間休日は121日以上です。これとは別にリフレッシュ休暇が3日間あります。合計日数ではなく、それぞれの制度としてご説明ください。休日の曜日、リフレッシュ休暇の取得条件、研修費補助の対象研修（法定研修が含まれるか等）は最新の条件を確認してからお伝えします［要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補足メモ】左はすでにある制度、右は経営者が目指している組織の姿で、まだ完成したものではありません。「現場の声を聞いて一緒につくっていく途中」であることを率直に伝えてください。また「自律」は一人で背負うことではなく、相談しながら仲間と動くことだと補足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補足メモ】すべてに当てはまる方を求めているわけではありません。応募者の方が共感するところ、これから大切にしたいことを聞いてみてください。Valueの5つの言葉は、このような働き方の姿勢と結びつい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補足メモ】給与は28万円〜33万円で、みなし残業代を含みます。みなし残業の時間数と金額、超える分の支払いは必ず確認したうえで説明してください［要確認］。勤務地は事業所の所在地で、本社所在地と混同しないよう注意します。未経験の方や主任ケアマネジャーの募集可否は、確認できるまで断定しないで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補足メモ】最後に、見学や面談のご案内です。資料だけでは分からない職場の雰囲気や、担当件数・相談体制などを直接確かめていただくことで、入職後のギャップを減らしたいと考えています。選考の流れと連絡先は確定した情報を記入してから配布してください［要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代表者の確認・修正を経るまで、掲載本文には入れないでください。代表ご本人の経歴や体験は資料内に情報がないため、創作していません。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詳しい確認リストは別紙（原稿・確認リスト）にもまとめています。確認が済んだ項目から、本文の［要確認］表示を差し替えてください。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詳しい確認リストは別紙（原稿・確認リスト）にもまとめています。確認が済んだ項目から、本文の［要確認］表示を差し替えてください。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509760"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960120" y="635508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うちケアプランセンター｜会社説明資料</a:t>
            </a:r>
            <a:endParaRPr lang="en-US" sz="1000" dirty="0"/>
          </a:p>
        </p:txBody>
      </p:sp>
      <p:pic>
        <p:nvPicPr>
          <p:cNvPr id="4" name="Image 0" descr="/tmp/claude-0/-home-user-UCHICARE/0e7d8274-02c5-574f-9991-dce834059096/scratchpad/logo.png">    </p:cNvPr>
          <p:cNvPicPr>
            <a:picLocks noChangeAspect="1"/>
          </p:cNvPicPr>
          <p:nvPr/>
        </p:nvPicPr>
        <p:blipFill>
          <a:blip r:embed="rId1"/>
          <a:stretch>
            <a:fillRect/>
          </a:stretch>
        </p:blipFill>
        <p:spPr>
          <a:xfrm>
            <a:off x="10561320" y="6236208"/>
            <a:ext cx="1234440" cy="411480"/>
          </a:xfrm>
          <a:prstGeom prst="rect">
            <a:avLst/>
          </a:prstGeom>
        </p:spPr>
      </p:pic>
      <p:sp>
        <p:nvSpPr>
          <p:cNvPr id="25" name="Slide Number Placeholder 0"/>
          <p:cNvSpPr>
            <a:spLocks noGrp="1"/>
          </p:cNvSpPr>
          <p:nvPr>
            <p:ph type="sldNum" sz="quarter" idx="4294967295"/>
          </p:nvPr>
        </p:nvSpPr>
        <p:spPr>
          <a:xfrm>
            <a:off x="548640" y="635508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1"/>
                </a:solidFill>
              </a:defRPr>
            </a:lvl1pPr>
          </a:lstStyle>
          <a:p>
            <a:pPr algn="l"/>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PPENDIX">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509760"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960120" y="635508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うちケアプランセンター｜会社説明資料</a:t>
            </a:r>
            <a:endParaRPr lang="en-US" sz="1000" dirty="0"/>
          </a:p>
        </p:txBody>
      </p:sp>
      <p:pic>
        <p:nvPicPr>
          <p:cNvPr id="4" name="Image 0" descr="/tmp/claude-0/-home-user-UCHICARE/0e7d8274-02c5-574f-9991-dce834059096/scratchpad/logo.png">    </p:cNvPr>
          <p:cNvPicPr>
            <a:picLocks noChangeAspect="1"/>
          </p:cNvPicPr>
          <p:nvPr/>
        </p:nvPicPr>
        <p:blipFill>
          <a:blip r:embed="rId1"/>
          <a:stretch>
            <a:fillRect/>
          </a:stretch>
        </p:blipFill>
        <p:spPr>
          <a:xfrm>
            <a:off x="10561320" y="6236208"/>
            <a:ext cx="1234440" cy="411480"/>
          </a:xfrm>
          <a:prstGeom prst="rect">
            <a:avLst/>
          </a:prstGeom>
        </p:spPr>
      </p:pic>
      <p:sp>
        <p:nvSpPr>
          <p:cNvPr id="5" name="Shape 1"/>
          <p:cNvSpPr/>
          <p:nvPr/>
        </p:nvSpPr>
        <p:spPr>
          <a:xfrm>
            <a:off x="9829800" y="457200"/>
            <a:ext cx="1828800" cy="384048"/>
          </a:xfrm>
          <a:prstGeom prst="rect">
            <a:avLst/>
          </a:prstGeom>
          <a:solidFill>
            <a:schemeClr val="accent6"/>
          </a:solidFill>
          <a:ln/>
        </p:spPr>
      </p:sp>
      <p:sp>
        <p:nvSpPr>
          <p:cNvPr id="6" name="Text 2"/>
          <p:cNvSpPr/>
          <p:nvPr/>
        </p:nvSpPr>
        <p:spPr>
          <a:xfrm>
            <a:off x="9829800" y="457200"/>
            <a:ext cx="1828800" cy="384048"/>
          </a:xfrm>
          <a:prstGeom prst="rect">
            <a:avLst/>
          </a:prstGeom>
          <a:noFill/>
          <a:ln/>
        </p:spPr>
        <p:txBody>
          <a:bodyPr wrap="square" lIns="0" tIns="0" rIns="0" bIns="0" rtlCol="0" anchor="ctr"/>
          <a:lstStyle/>
          <a:p>
            <a:pPr algn="ctr" indent="0" marL="0">
              <a:buNone/>
            </a:pPr>
            <a:r>
              <a:rPr lang="en-US" sz="1100" b="1" dirty="0">
                <a:solidFill>
                  <a:srgbClr val="FFFFFF"/>
                </a:solidFill>
              </a:rPr>
              <a:t>作成者用｜公開前に削除</a:t>
            </a:r>
            <a:endParaRPr lang="en-US" sz="1100" dirty="0"/>
          </a:p>
        </p:txBody>
      </p:sp>
      <p:sp>
        <p:nvSpPr>
          <p:cNvPr id="25" name="Slide Number Placeholder 0"/>
          <p:cNvSpPr>
            <a:spLocks noGrp="1"/>
          </p:cNvSpPr>
          <p:nvPr>
            <p:ph type="sldNum" sz="quarter" idx="4294967295"/>
          </p:nvPr>
        </p:nvSpPr>
        <p:spPr>
          <a:xfrm>
            <a:off x="548640" y="635508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1"/>
                </a:solidFill>
              </a:defRPr>
            </a:lvl1pPr>
          </a:lstStyle>
          <a:p>
            <a:pPr algn="l"/>
            <a:fld id="{F7021451-1387-4CA6-816F-3879F97B5CBC}" type="slidenum">
              <a:rPr b="1"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5508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1"/>
                </a:solidFill>
              </a:defRPr>
            </a:lvl1pPr>
          </a:lstStyle>
          <a:p>
            <a:pPr algn="l"/>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jp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jp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jp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 hex 1"/>
          <p:cNvSpPr/>
          <p:nvPr/>
        </p:nvSpPr>
        <p:spPr>
          <a:xfrm>
            <a:off x="-822960" y="4754880"/>
            <a:ext cx="2926080" cy="2560320"/>
          </a:xfrm>
          <a:prstGeom prst="hexagon">
            <a:avLst/>
          </a:prstGeom>
          <a:solidFill>
            <a:schemeClr val="bg2"/>
          </a:solidFill>
          <a:ln/>
        </p:spPr>
      </p:sp>
      <p:sp>
        <p:nvSpPr>
          <p:cNvPr id="3" name="deco hex 2"/>
          <p:cNvSpPr/>
          <p:nvPr/>
        </p:nvSpPr>
        <p:spPr>
          <a:xfrm>
            <a:off x="1737360" y="5897880"/>
            <a:ext cx="1463040" cy="1280160"/>
          </a:xfrm>
          <a:prstGeom prst="hexagon">
            <a:avLst/>
          </a:prstGeom>
          <a:solidFill>
            <a:schemeClr val="accent3"/>
          </a:solidFill>
          <a:ln/>
        </p:spPr>
      </p:sp>
      <p:pic>
        <p:nvPicPr>
          <p:cNvPr id="4" name="logo" descr="/tmp/claude-0/-home-user-UCHICARE/0e7d8274-02c5-574f-9991-dce834059096/scratchpad/logo.png">    </p:cNvPr>
          <p:cNvPicPr>
            <a:picLocks noChangeAspect="1"/>
          </p:cNvPicPr>
          <p:nvPr/>
        </p:nvPicPr>
        <p:blipFill>
          <a:blip r:embed="rId1"/>
          <a:stretch>
            <a:fillRect/>
          </a:stretch>
        </p:blipFill>
        <p:spPr>
          <a:xfrm>
            <a:off x="411480" y="365760"/>
            <a:ext cx="2743200" cy="914400"/>
          </a:xfrm>
          <a:prstGeom prst="rect">
            <a:avLst/>
          </a:prstGeom>
        </p:spPr>
      </p:pic>
      <p:sp>
        <p:nvSpPr>
          <p:cNvPr id="5" name="Text 2"/>
          <p:cNvSpPr txBox="1"/>
          <p:nvPr/>
        </p:nvSpPr>
        <p:spPr>
          <a:xfrm>
            <a:off x="685800" y="1600200"/>
            <a:ext cx="4937760" cy="365760"/>
          </a:xfrm>
          <a:prstGeom prst="rect">
            <a:avLst/>
          </a:prstGeom>
          <a:noFill/>
          <a:ln/>
        </p:spPr>
        <p:txBody>
          <a:bodyPr wrap="square" lIns="0" tIns="0" rIns="0" bIns="0" rtlCol="0" anchor="t"/>
          <a:lstStyle/>
          <a:p>
            <a:pPr indent="0" marL="0">
              <a:lnSpc>
                <a:spcPct val="115000"/>
              </a:lnSpc>
              <a:buNone/>
            </a:pPr>
            <a:r>
              <a:rPr lang="en-US" sz="1600" b="1" dirty="0">
                <a:solidFill>
                  <a:schemeClr val="accent1"/>
                </a:solidFill>
              </a:rPr>
              <a:t>ケアマネジャーの方へ｜会社説明資料</a:t>
            </a:r>
            <a:endParaRPr lang="en-US" sz="1600" dirty="0"/>
          </a:p>
        </p:txBody>
      </p:sp>
      <p:sp>
        <p:nvSpPr>
          <p:cNvPr id="6" name="cover title"/>
          <p:cNvSpPr txBox="1"/>
          <p:nvPr/>
        </p:nvSpPr>
        <p:spPr>
          <a:xfrm>
            <a:off x="685800" y="2011680"/>
            <a:ext cx="4937760" cy="1600200"/>
          </a:xfrm>
          <a:prstGeom prst="rect">
            <a:avLst/>
          </a:prstGeom>
          <a:noFill/>
          <a:ln/>
        </p:spPr>
        <p:txBody>
          <a:bodyPr wrap="square" lIns="0" tIns="0" rIns="0" bIns="0" rtlCol="0" anchor="t"/>
          <a:lstStyle/>
          <a:p>
            <a:pPr indent="0" marL="0">
              <a:lnSpc>
                <a:spcPct val="100000"/>
              </a:lnSpc>
              <a:buNone/>
            </a:pPr>
            <a:r>
              <a:rPr lang="en-US" sz="4400" b="1" dirty="0">
                <a:solidFill>
                  <a:schemeClr val="tx2"/>
                </a:solidFill>
              </a:rPr>
              <a:t>うちケアプラン</a:t>
            </a:r>
            <a:endParaRPr lang="en-US" sz="4400" dirty="0"/>
          </a:p>
          <a:p>
            <a:pPr indent="0" marL="0">
              <a:lnSpc>
                <a:spcPct val="100000"/>
              </a:lnSpc>
              <a:buNone/>
            </a:pPr>
            <a:r>
              <a:rPr lang="en-US" sz="4400" b="1" dirty="0">
                <a:solidFill>
                  <a:schemeClr val="tx2"/>
                </a:solidFill>
              </a:rPr>
              <a:t>センター</a:t>
            </a:r>
            <a:endParaRPr lang="en-US" sz="4400" dirty="0"/>
          </a:p>
        </p:txBody>
      </p:sp>
      <p:sp>
        <p:nvSpPr>
          <p:cNvPr id="7" name="Text 4"/>
          <p:cNvSpPr txBox="1"/>
          <p:nvPr/>
        </p:nvSpPr>
        <p:spPr>
          <a:xfrm>
            <a:off x="685800" y="3794760"/>
            <a:ext cx="5029200" cy="1188720"/>
          </a:xfrm>
          <a:prstGeom prst="rect">
            <a:avLst/>
          </a:prstGeom>
          <a:noFill/>
          <a:ln/>
        </p:spPr>
        <p:txBody>
          <a:bodyPr wrap="square" lIns="0" tIns="0" rIns="0" bIns="0" rtlCol="0" anchor="t"/>
          <a:lstStyle/>
          <a:p>
            <a:pPr indent="0" marL="0">
              <a:lnSpc>
                <a:spcPct val="125000"/>
              </a:lnSpc>
              <a:buNone/>
            </a:pPr>
            <a:r>
              <a:rPr lang="en-US" sz="1900" dirty="0">
                <a:solidFill>
                  <a:schemeClr val="tx1"/>
                </a:solidFill>
              </a:rPr>
              <a:t>利用者さんの「その人らしさ」も、</a:t>
            </a:r>
            <a:endParaRPr lang="en-US" sz="1900" dirty="0"/>
          </a:p>
          <a:p>
            <a:pPr indent="0" marL="0">
              <a:lnSpc>
                <a:spcPct val="125000"/>
              </a:lnSpc>
              <a:buNone/>
            </a:pPr>
            <a:r>
              <a:rPr lang="en-US" sz="1900" dirty="0">
                <a:solidFill>
                  <a:schemeClr val="tx1"/>
                </a:solidFill>
              </a:rPr>
              <a:t>働く私たちの「自分らしさ」も、</a:t>
            </a:r>
            <a:endParaRPr lang="en-US" sz="1900" dirty="0"/>
          </a:p>
          <a:p>
            <a:pPr indent="0" marL="0">
              <a:lnSpc>
                <a:spcPct val="125000"/>
              </a:lnSpc>
              <a:buNone/>
            </a:pPr>
            <a:r>
              <a:rPr lang="en-US" sz="1900" dirty="0">
                <a:solidFill>
                  <a:schemeClr val="tx1"/>
                </a:solidFill>
              </a:rPr>
              <a:t>同じように大切にしたい。</a:t>
            </a:r>
            <a:endParaRPr lang="en-US" sz="1900" dirty="0"/>
          </a:p>
        </p:txBody>
      </p:sp>
      <p:sp>
        <p:nvSpPr>
          <p:cNvPr id="8" name="Text 5"/>
          <p:cNvSpPr txBox="1"/>
          <p:nvPr/>
        </p:nvSpPr>
        <p:spPr>
          <a:xfrm>
            <a:off x="3291840" y="6172200"/>
            <a:ext cx="2743200" cy="320040"/>
          </a:xfrm>
          <a:prstGeom prst="rect">
            <a:avLst/>
          </a:prstGeom>
          <a:noFill/>
          <a:ln/>
        </p:spPr>
        <p:txBody>
          <a:bodyPr wrap="square" lIns="0" tIns="0" rIns="0" bIns="0" rtlCol="0" anchor="t"/>
          <a:lstStyle/>
          <a:p>
            <a:pPr indent="0" marL="0">
              <a:lnSpc>
                <a:spcPct val="115000"/>
              </a:lnSpc>
              <a:buNone/>
            </a:pPr>
            <a:r>
              <a:rPr lang="en-US" sz="1300" dirty="0">
                <a:solidFill>
                  <a:schemeClr val="accent5"/>
                </a:solidFill>
              </a:rPr>
              <a:t>運営：株式会社Uchi care</a:t>
            </a:r>
            <a:endParaRPr lang="en-US" sz="1300" dirty="0"/>
          </a:p>
        </p:txBody>
      </p:sp>
      <p:pic>
        <p:nvPicPr>
          <p:cNvPr id="9" name="team photo" descr="/tmp/claude-0/-home-user-UCHICARE/0e7d8274-02c5-574f-9991-dce834059096/scratchpad/team.jpg">    </p:cNvPr>
          <p:cNvPicPr>
            <a:picLocks noChangeAspect="1"/>
          </p:cNvPicPr>
          <p:nvPr/>
        </p:nvPicPr>
        <p:blipFill>
          <a:blip r:embed="rId2"/>
          <a:stretch>
            <a:fillRect/>
          </a:stretch>
        </p:blipFill>
        <p:spPr>
          <a:xfrm>
            <a:off x="5989320" y="1051560"/>
            <a:ext cx="5669280" cy="4251960"/>
          </a:xfrm>
          <a:prstGeom prst="rect">
            <a:avLst/>
          </a:prstGeom>
        </p:spPr>
      </p:pic>
      <p:sp>
        <p:nvSpPr>
          <p:cNvPr id="10" name="Text 6"/>
          <p:cNvSpPr txBox="1"/>
          <p:nvPr/>
        </p:nvSpPr>
        <p:spPr>
          <a:xfrm>
            <a:off x="5989320" y="5394960"/>
            <a:ext cx="5669280" cy="274320"/>
          </a:xfrm>
          <a:prstGeom prst="rect">
            <a:avLst/>
          </a:prstGeom>
          <a:noFill/>
          <a:ln/>
        </p:spPr>
        <p:txBody>
          <a:bodyPr wrap="square" lIns="0" tIns="0" rIns="0" bIns="0" rtlCol="0" anchor="t"/>
          <a:lstStyle/>
          <a:p>
            <a:pPr algn="r" indent="0" marL="0">
              <a:lnSpc>
                <a:spcPct val="115000"/>
              </a:lnSpc>
              <a:buNone/>
            </a:pPr>
            <a:r>
              <a:rPr lang="en-US" sz="1100" dirty="0">
                <a:solidFill>
                  <a:schemeClr val="accent5"/>
                </a:solidFill>
              </a:rPr>
              <a:t>株式会社Uchi careのメンバー</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私たちについて</a:t>
            </a:r>
            <a:endParaRPr lang="en-US" sz="3000" dirty="0"/>
          </a:p>
        </p:txBody>
      </p:sp>
      <p:sp>
        <p:nvSpPr>
          <p:cNvPr id="3" name="about icon 1"/>
          <p:cNvSpPr/>
          <p:nvPr/>
        </p:nvSpPr>
        <p:spPr>
          <a:xfrm>
            <a:off x="548640" y="1417320"/>
            <a:ext cx="868680" cy="764438"/>
          </a:xfrm>
          <a:prstGeom prst="hexagon">
            <a:avLst/>
          </a:prstGeom>
          <a:solidFill>
            <a:schemeClr val="accent1"/>
          </a:solidFill>
          <a:ln/>
        </p:spPr>
      </p:sp>
      <p:pic>
        <p:nvPicPr>
          <p:cNvPr id="4" name="about icon 1 icon" descr="preencoded.png">    </p:cNvPr>
          <p:cNvPicPr>
            <a:picLocks noChangeAspect="1"/>
          </p:cNvPicPr>
          <p:nvPr/>
        </p:nvPicPr>
        <p:blipFill>
          <a:blip r:embed="rId1"/>
          <a:stretch>
            <a:fillRect/>
          </a:stretch>
        </p:blipFill>
        <p:spPr>
          <a:xfrm>
            <a:off x="774497" y="1591056"/>
            <a:ext cx="416966" cy="416966"/>
          </a:xfrm>
          <a:prstGeom prst="rect">
            <a:avLst/>
          </a:prstGeom>
        </p:spPr>
      </p:pic>
      <p:sp>
        <p:nvSpPr>
          <p:cNvPr id="5" name="Text 2"/>
          <p:cNvSpPr txBox="1"/>
          <p:nvPr/>
        </p:nvSpPr>
        <p:spPr>
          <a:xfrm>
            <a:off x="1691640" y="1371600"/>
            <a:ext cx="4937760" cy="384048"/>
          </a:xfrm>
          <a:prstGeom prst="rect">
            <a:avLst/>
          </a:prstGeom>
          <a:noFill/>
          <a:ln/>
        </p:spPr>
        <p:txBody>
          <a:bodyPr wrap="square" lIns="0" tIns="0" rIns="0" bIns="0" rtlCol="0" anchor="t"/>
          <a:lstStyle/>
          <a:p>
            <a:pPr indent="0" marL="0">
              <a:lnSpc>
                <a:spcPct val="115000"/>
              </a:lnSpc>
              <a:buNone/>
            </a:pPr>
            <a:r>
              <a:rPr lang="en-US" sz="1900" b="1" dirty="0">
                <a:solidFill>
                  <a:schemeClr val="tx2"/>
                </a:solidFill>
              </a:rPr>
              <a:t>運営会社</a:t>
            </a:r>
            <a:endParaRPr lang="en-US" sz="1900" dirty="0"/>
          </a:p>
        </p:txBody>
      </p:sp>
      <p:sp>
        <p:nvSpPr>
          <p:cNvPr id="6" name="Text 3"/>
          <p:cNvSpPr txBox="1"/>
          <p:nvPr/>
        </p:nvSpPr>
        <p:spPr>
          <a:xfrm>
            <a:off x="1691640" y="1810512"/>
            <a:ext cx="4937760" cy="1051560"/>
          </a:xfrm>
          <a:prstGeom prst="rect">
            <a:avLst/>
          </a:prstGeom>
          <a:noFill/>
          <a:ln/>
        </p:spPr>
        <p:txBody>
          <a:bodyPr wrap="square" lIns="0" tIns="0" rIns="0" bIns="0" rtlCol="0" anchor="t"/>
          <a:lstStyle/>
          <a:p>
            <a:pPr indent="0" marL="0">
              <a:lnSpc>
                <a:spcPct val="115000"/>
              </a:lnSpc>
              <a:buNone/>
            </a:pPr>
            <a:r>
              <a:rPr lang="en-US" sz="1500" dirty="0">
                <a:solidFill>
                  <a:schemeClr val="tx1"/>
                </a:solidFill>
              </a:rPr>
              <a:t>株式会社Uchi care（代表者：榎本健太）</a:t>
            </a:r>
            <a:endParaRPr lang="en-US" sz="1500" dirty="0"/>
          </a:p>
          <a:p>
            <a:pPr indent="0" marL="0">
              <a:lnSpc>
                <a:spcPct val="115000"/>
              </a:lnSpc>
              <a:buNone/>
            </a:pPr>
            <a:r>
              <a:rPr lang="en-US" sz="1500" dirty="0">
                <a:solidFill>
                  <a:schemeClr val="tx1"/>
                </a:solidFill>
              </a:rPr>
              <a:t>本社所在地</a:t>
            </a:r>
            <a:pPr indent="0" marL="0">
              <a:lnSpc>
                <a:spcPct val="115000"/>
              </a:lnSpc>
              <a:buNone/>
            </a:pPr>
            <a:r>
              <a:rPr lang="en-US" sz="1500" b="1" dirty="0">
                <a:solidFill>
                  <a:schemeClr val="accent6"/>
                </a:solidFill>
              </a:rPr>
              <a:t>［要確認］</a:t>
            </a:r>
            <a:endParaRPr lang="en-US" sz="1500" dirty="0"/>
          </a:p>
        </p:txBody>
      </p:sp>
      <p:sp>
        <p:nvSpPr>
          <p:cNvPr id="7" name="about icon 2"/>
          <p:cNvSpPr/>
          <p:nvPr/>
        </p:nvSpPr>
        <p:spPr>
          <a:xfrm>
            <a:off x="548640" y="3017520"/>
            <a:ext cx="868680" cy="764438"/>
          </a:xfrm>
          <a:prstGeom prst="hexagon">
            <a:avLst/>
          </a:prstGeom>
          <a:solidFill>
            <a:schemeClr val="accent1"/>
          </a:solidFill>
          <a:ln/>
        </p:spPr>
      </p:sp>
      <p:pic>
        <p:nvPicPr>
          <p:cNvPr id="8" name="about icon 2 icon" descr="preencoded.png">    </p:cNvPr>
          <p:cNvPicPr>
            <a:picLocks noChangeAspect="1"/>
          </p:cNvPicPr>
          <p:nvPr/>
        </p:nvPicPr>
        <p:blipFill>
          <a:blip r:embed="rId2"/>
          <a:stretch>
            <a:fillRect/>
          </a:stretch>
        </p:blipFill>
        <p:spPr>
          <a:xfrm>
            <a:off x="774497" y="3191256"/>
            <a:ext cx="416966" cy="416966"/>
          </a:xfrm>
          <a:prstGeom prst="rect">
            <a:avLst/>
          </a:prstGeom>
        </p:spPr>
      </p:pic>
      <p:sp>
        <p:nvSpPr>
          <p:cNvPr id="9" name="Text 5"/>
          <p:cNvSpPr txBox="1"/>
          <p:nvPr/>
        </p:nvSpPr>
        <p:spPr>
          <a:xfrm>
            <a:off x="1691640" y="2971800"/>
            <a:ext cx="4937760" cy="384048"/>
          </a:xfrm>
          <a:prstGeom prst="rect">
            <a:avLst/>
          </a:prstGeom>
          <a:noFill/>
          <a:ln/>
        </p:spPr>
        <p:txBody>
          <a:bodyPr wrap="square" lIns="0" tIns="0" rIns="0" bIns="0" rtlCol="0" anchor="t"/>
          <a:lstStyle/>
          <a:p>
            <a:pPr indent="0" marL="0">
              <a:lnSpc>
                <a:spcPct val="115000"/>
              </a:lnSpc>
              <a:buNone/>
            </a:pPr>
            <a:r>
              <a:rPr lang="en-US" sz="1900" b="1" dirty="0">
                <a:solidFill>
                  <a:schemeClr val="tx2"/>
                </a:solidFill>
              </a:rPr>
              <a:t>うちケアプランセンターの役割</a:t>
            </a:r>
            <a:endParaRPr lang="en-US" sz="1900" dirty="0"/>
          </a:p>
        </p:txBody>
      </p:sp>
      <p:sp>
        <p:nvSpPr>
          <p:cNvPr id="10" name="Text 6"/>
          <p:cNvSpPr txBox="1"/>
          <p:nvPr/>
        </p:nvSpPr>
        <p:spPr>
          <a:xfrm>
            <a:off x="1691640" y="3410712"/>
            <a:ext cx="4937760" cy="1051560"/>
          </a:xfrm>
          <a:prstGeom prst="rect">
            <a:avLst/>
          </a:prstGeom>
          <a:noFill/>
          <a:ln/>
        </p:spPr>
        <p:txBody>
          <a:bodyPr wrap="square" lIns="0" tIns="0" rIns="0" bIns="0" rtlCol="0" anchor="t"/>
          <a:lstStyle/>
          <a:p>
            <a:pPr indent="0" marL="0">
              <a:lnSpc>
                <a:spcPct val="115000"/>
              </a:lnSpc>
              <a:buNone/>
            </a:pPr>
            <a:r>
              <a:rPr lang="en-US" sz="1500" dirty="0">
                <a:solidFill>
                  <a:schemeClr val="tx1"/>
                </a:solidFill>
              </a:rPr>
              <a:t>介護が必要な方やご家族の相談を受け、本人の望む暮らしに向けてケアプランを作成し、サービス事業者や医療機関などとの調整を行います。</a:t>
            </a:r>
            <a:endParaRPr lang="en-US" sz="1500" dirty="0"/>
          </a:p>
        </p:txBody>
      </p:sp>
      <p:sp>
        <p:nvSpPr>
          <p:cNvPr id="11" name="about icon 3"/>
          <p:cNvSpPr/>
          <p:nvPr/>
        </p:nvSpPr>
        <p:spPr>
          <a:xfrm>
            <a:off x="548640" y="4617720"/>
            <a:ext cx="868680" cy="764438"/>
          </a:xfrm>
          <a:prstGeom prst="hexagon">
            <a:avLst/>
          </a:prstGeom>
          <a:solidFill>
            <a:schemeClr val="accent1"/>
          </a:solidFill>
          <a:ln/>
        </p:spPr>
      </p:sp>
      <p:pic>
        <p:nvPicPr>
          <p:cNvPr id="12" name="about icon 3 icon" descr="preencoded.png">    </p:cNvPr>
          <p:cNvPicPr>
            <a:picLocks noChangeAspect="1"/>
          </p:cNvPicPr>
          <p:nvPr/>
        </p:nvPicPr>
        <p:blipFill>
          <a:blip r:embed="rId3"/>
          <a:stretch>
            <a:fillRect/>
          </a:stretch>
        </p:blipFill>
        <p:spPr>
          <a:xfrm>
            <a:off x="774497" y="4791456"/>
            <a:ext cx="416966" cy="416966"/>
          </a:xfrm>
          <a:prstGeom prst="rect">
            <a:avLst/>
          </a:prstGeom>
        </p:spPr>
      </p:pic>
      <p:sp>
        <p:nvSpPr>
          <p:cNvPr id="13" name="Text 8"/>
          <p:cNvSpPr txBox="1"/>
          <p:nvPr/>
        </p:nvSpPr>
        <p:spPr>
          <a:xfrm>
            <a:off x="1691640" y="4572000"/>
            <a:ext cx="4937760" cy="384048"/>
          </a:xfrm>
          <a:prstGeom prst="rect">
            <a:avLst/>
          </a:prstGeom>
          <a:noFill/>
          <a:ln/>
        </p:spPr>
        <p:txBody>
          <a:bodyPr wrap="square" lIns="0" tIns="0" rIns="0" bIns="0" rtlCol="0" anchor="t"/>
          <a:lstStyle/>
          <a:p>
            <a:pPr indent="0" marL="0">
              <a:lnSpc>
                <a:spcPct val="115000"/>
              </a:lnSpc>
              <a:buNone/>
            </a:pPr>
            <a:r>
              <a:rPr lang="en-US" sz="1900" b="1" dirty="0">
                <a:solidFill>
                  <a:schemeClr val="tx2"/>
                </a:solidFill>
              </a:rPr>
              <a:t>関連事業</a:t>
            </a:r>
            <a:endParaRPr lang="en-US" sz="1900" dirty="0"/>
          </a:p>
        </p:txBody>
      </p:sp>
      <p:sp>
        <p:nvSpPr>
          <p:cNvPr id="14" name="Text 9"/>
          <p:cNvSpPr txBox="1"/>
          <p:nvPr/>
        </p:nvSpPr>
        <p:spPr>
          <a:xfrm>
            <a:off x="1691640" y="5010912"/>
            <a:ext cx="4937760" cy="1051560"/>
          </a:xfrm>
          <a:prstGeom prst="rect">
            <a:avLst/>
          </a:prstGeom>
          <a:noFill/>
          <a:ln/>
        </p:spPr>
        <p:txBody>
          <a:bodyPr wrap="square" lIns="0" tIns="0" rIns="0" bIns="0" rtlCol="0" anchor="t"/>
          <a:lstStyle/>
          <a:p>
            <a:pPr indent="0" marL="0">
              <a:lnSpc>
                <a:spcPct val="115000"/>
              </a:lnSpc>
              <a:buNone/>
            </a:pPr>
            <a:r>
              <a:rPr lang="en-US" sz="1500" dirty="0">
                <a:solidFill>
                  <a:schemeClr val="tx1"/>
                </a:solidFill>
              </a:rPr>
              <a:t>同じ法人で訪問看護・リハビリテーションを行っています。医療やリハビリの視点が必要な場面で、多職種と連携しやすい環境を目指しています。</a:t>
            </a:r>
            <a:endParaRPr lang="en-US" sz="1500" dirty="0"/>
          </a:p>
        </p:txBody>
      </p:sp>
      <p:pic>
        <p:nvPicPr>
          <p:cNvPr id="15" name="exterior photo" descr="/tmp/claude-0/-home-user-UCHICARE/0e7d8274-02c5-574f-9991-dce834059096/scratchpad/exterior.jpg">    </p:cNvPr>
          <p:cNvPicPr>
            <a:picLocks noChangeAspect="1"/>
          </p:cNvPicPr>
          <p:nvPr/>
        </p:nvPicPr>
        <p:blipFill>
          <a:blip r:embed="rId4"/>
          <a:srcRect l="0" r="0" t="0" b="0"/>
          <a:stretch/>
        </p:blipFill>
        <p:spPr>
          <a:xfrm>
            <a:off x="7178040" y="1371600"/>
            <a:ext cx="4480560" cy="3017520"/>
          </a:xfrm>
          <a:prstGeom prst="rect">
            <a:avLst/>
          </a:prstGeom>
        </p:spPr>
      </p:pic>
      <p:sp>
        <p:nvSpPr>
          <p:cNvPr id="16" name="Text 10"/>
          <p:cNvSpPr txBox="1"/>
          <p:nvPr/>
        </p:nvSpPr>
        <p:spPr>
          <a:xfrm>
            <a:off x="7178040" y="4443984"/>
            <a:ext cx="4480560" cy="256032"/>
          </a:xfrm>
          <a:prstGeom prst="rect">
            <a:avLst/>
          </a:prstGeom>
          <a:noFill/>
          <a:ln/>
        </p:spPr>
        <p:txBody>
          <a:bodyPr wrap="square" lIns="0" tIns="0" rIns="0" bIns="0" rtlCol="0" anchor="t"/>
          <a:lstStyle/>
          <a:p>
            <a:pPr algn="r" indent="0" marL="0">
              <a:lnSpc>
                <a:spcPct val="115000"/>
              </a:lnSpc>
              <a:buNone/>
            </a:pPr>
            <a:r>
              <a:rPr lang="en-US" sz="1100" dirty="0">
                <a:solidFill>
                  <a:schemeClr val="accent5"/>
                </a:solidFill>
              </a:rPr>
              <a:t>事業所の外観</a:t>
            </a:r>
            <a:endParaRPr lang="en-US" sz="1100" dirty="0"/>
          </a:p>
        </p:txBody>
      </p:sp>
      <p:sp>
        <p:nvSpPr>
          <p:cNvPr id="17" name="neutral note"/>
          <p:cNvSpPr/>
          <p:nvPr/>
        </p:nvSpPr>
        <p:spPr>
          <a:xfrm>
            <a:off x="7178040" y="4800600"/>
            <a:ext cx="4480560" cy="1234440"/>
          </a:xfrm>
          <a:prstGeom prst="roundRect">
            <a:avLst>
              <a:gd name="adj" fmla="val 8889"/>
            </a:avLst>
          </a:prstGeom>
          <a:solidFill>
            <a:schemeClr val="accent3"/>
          </a:solidFill>
          <a:ln/>
        </p:spPr>
      </p:sp>
      <p:sp>
        <p:nvSpPr>
          <p:cNvPr id="18" name="Text 12"/>
          <p:cNvSpPr txBox="1"/>
          <p:nvPr/>
        </p:nvSpPr>
        <p:spPr>
          <a:xfrm>
            <a:off x="7406640" y="4937760"/>
            <a:ext cx="4023360" cy="1005840"/>
          </a:xfrm>
          <a:prstGeom prst="rect">
            <a:avLst/>
          </a:prstGeom>
          <a:noFill/>
          <a:ln/>
        </p:spPr>
        <p:txBody>
          <a:bodyPr wrap="square" lIns="0" tIns="0" rIns="0" bIns="0" rtlCol="0" anchor="ctr"/>
          <a:lstStyle/>
          <a:p>
            <a:pPr indent="0" marL="0">
              <a:lnSpc>
                <a:spcPct val="115000"/>
              </a:lnSpc>
              <a:buNone/>
            </a:pPr>
            <a:r>
              <a:rPr lang="en-US" sz="1400" dirty="0">
                <a:solidFill>
                  <a:schemeClr val="tx2"/>
                </a:solidFill>
              </a:rPr>
              <a:t>ケアプランでは、法人内外を問わず、本人の希望と状態に合ったサービスを公正・中立に検討します。</a:t>
            </a:r>
            <a:endParaRPr lang="en-US" sz="1400" dirty="0"/>
          </a:p>
        </p:txBody>
      </p:sp>
      <p:sp>
        <p:nvSpPr>
          <p:cNvPr id="25" name="Slide Number Placeholder 0"/>
          <p:cNvSpPr>
            <a:spLocks noGrp="1"/>
          </p:cNvSpPr>
          <p:nvPr>
            <p:ph type="sldNum" sz="quarter" idx="4294967295"/>
          </p:nvPr>
        </p:nvSpPr>
        <p:spPr>
          <a:xfrm>
            <a:off x="548640" y="635508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1"/>
                </a:solidFill>
              </a:defRPr>
            </a:lvl1pPr>
          </a:lstStyle>
          <a:p>
            <a:pPr algn="l"/>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私たちが大切にしていること</a:t>
            </a:r>
            <a:endParaRPr lang="en-US" sz="3000" dirty="0"/>
          </a:p>
        </p:txBody>
      </p:sp>
      <p:sp>
        <p:nvSpPr>
          <p:cNvPr id="3" name="bhag card"/>
          <p:cNvSpPr/>
          <p:nvPr/>
        </p:nvSpPr>
        <p:spPr>
          <a:xfrm>
            <a:off x="548640" y="1325880"/>
            <a:ext cx="11109960" cy="1051560"/>
          </a:xfrm>
          <a:prstGeom prst="roundRect">
            <a:avLst>
              <a:gd name="adj" fmla="val 10435"/>
            </a:avLst>
          </a:prstGeom>
          <a:solidFill>
            <a:schemeClr val="accent1"/>
          </a:solidFill>
          <a:ln/>
        </p:spPr>
      </p:sp>
      <p:sp>
        <p:nvSpPr>
          <p:cNvPr id="4" name="Text 2"/>
          <p:cNvSpPr txBox="1"/>
          <p:nvPr/>
        </p:nvSpPr>
        <p:spPr>
          <a:xfrm>
            <a:off x="868680" y="1435608"/>
            <a:ext cx="3108960" cy="320040"/>
          </a:xfrm>
          <a:prstGeom prst="rect">
            <a:avLst/>
          </a:prstGeom>
          <a:noFill/>
          <a:ln/>
        </p:spPr>
        <p:txBody>
          <a:bodyPr wrap="square" lIns="0" tIns="0" rIns="0" bIns="0" rtlCol="0" anchor="t"/>
          <a:lstStyle/>
          <a:p>
            <a:pPr indent="0" marL="0">
              <a:lnSpc>
                <a:spcPct val="115000"/>
              </a:lnSpc>
              <a:buNone/>
            </a:pPr>
            <a:r>
              <a:rPr lang="en-US" sz="1300" b="1" dirty="0">
                <a:solidFill>
                  <a:srgbClr val="FFFFFF"/>
                </a:solidFill>
              </a:rPr>
              <a:t>BHAG｜長期で目指す社会</a:t>
            </a:r>
            <a:endParaRPr lang="en-US" sz="1300" dirty="0"/>
          </a:p>
        </p:txBody>
      </p:sp>
      <p:sp>
        <p:nvSpPr>
          <p:cNvPr id="5" name="Text 3"/>
          <p:cNvSpPr txBox="1"/>
          <p:nvPr/>
        </p:nvSpPr>
        <p:spPr>
          <a:xfrm>
            <a:off x="868680" y="1783080"/>
            <a:ext cx="5303520" cy="457200"/>
          </a:xfrm>
          <a:prstGeom prst="rect">
            <a:avLst/>
          </a:prstGeom>
          <a:noFill/>
          <a:ln/>
        </p:spPr>
        <p:txBody>
          <a:bodyPr wrap="square" lIns="0" tIns="0" rIns="0" bIns="0" rtlCol="0" anchor="t"/>
          <a:lstStyle/>
          <a:p>
            <a:pPr indent="0" marL="0">
              <a:lnSpc>
                <a:spcPct val="115000"/>
              </a:lnSpc>
              <a:buNone/>
            </a:pPr>
            <a:r>
              <a:rPr lang="en-US" sz="2100" b="1" dirty="0">
                <a:solidFill>
                  <a:srgbClr val="FFFFFF"/>
                </a:solidFill>
              </a:rPr>
              <a:t>医療福祉で誰1人取り残さない社会を創る</a:t>
            </a:r>
            <a:endParaRPr lang="en-US" sz="2100" dirty="0"/>
          </a:p>
        </p:txBody>
      </p:sp>
      <p:sp>
        <p:nvSpPr>
          <p:cNvPr id="6" name="Text 4"/>
          <p:cNvSpPr txBox="1"/>
          <p:nvPr/>
        </p:nvSpPr>
        <p:spPr>
          <a:xfrm>
            <a:off x="6400800" y="1463040"/>
            <a:ext cx="4983480" cy="777240"/>
          </a:xfrm>
          <a:prstGeom prst="rect">
            <a:avLst/>
          </a:prstGeom>
          <a:noFill/>
          <a:ln/>
        </p:spPr>
        <p:txBody>
          <a:bodyPr wrap="square" lIns="0" tIns="0" rIns="0" bIns="0" rtlCol="0" anchor="ctr"/>
          <a:lstStyle/>
          <a:p>
            <a:pPr indent="0" marL="0">
              <a:lnSpc>
                <a:spcPct val="115000"/>
              </a:lnSpc>
              <a:buNone/>
            </a:pPr>
            <a:r>
              <a:rPr lang="en-US" sz="1400" dirty="0">
                <a:solidFill>
                  <a:srgbClr val="FFFFFF"/>
                </a:solidFill>
              </a:rPr>
              <a:t>制度のすき間にいる方や、声を上げにくい方にも支援が届く地域を、長い時間をかけて目指します。</a:t>
            </a:r>
            <a:endParaRPr lang="en-US" sz="1400" dirty="0"/>
          </a:p>
        </p:txBody>
      </p:sp>
      <p:sp>
        <p:nvSpPr>
          <p:cNvPr id="7" name="mv card 1"/>
          <p:cNvSpPr/>
          <p:nvPr/>
        </p:nvSpPr>
        <p:spPr>
          <a:xfrm>
            <a:off x="548640" y="2560320"/>
            <a:ext cx="5440680" cy="2743200"/>
          </a:xfrm>
          <a:prstGeom prst="roundRect">
            <a:avLst>
              <a:gd name="adj" fmla="val 4000"/>
            </a:avLst>
          </a:prstGeom>
          <a:solidFill>
            <a:schemeClr val="bg2"/>
          </a:solidFill>
          <a:ln/>
        </p:spPr>
      </p:sp>
      <p:sp>
        <p:nvSpPr>
          <p:cNvPr id="8" name="Text 6"/>
          <p:cNvSpPr txBox="1"/>
          <p:nvPr/>
        </p:nvSpPr>
        <p:spPr>
          <a:xfrm>
            <a:off x="822960" y="2697480"/>
            <a:ext cx="4937760" cy="292608"/>
          </a:xfrm>
          <a:prstGeom prst="rect">
            <a:avLst/>
          </a:prstGeom>
          <a:noFill/>
          <a:ln/>
        </p:spPr>
        <p:txBody>
          <a:bodyPr wrap="square" lIns="0" tIns="0" rIns="0" bIns="0" rtlCol="0" anchor="t"/>
          <a:lstStyle/>
          <a:p>
            <a:pPr indent="0" marL="0">
              <a:lnSpc>
                <a:spcPct val="115000"/>
              </a:lnSpc>
              <a:buNone/>
            </a:pPr>
            <a:r>
              <a:rPr lang="en-US" sz="1300" b="1" dirty="0">
                <a:solidFill>
                  <a:schemeClr val="accent1"/>
                </a:solidFill>
              </a:rPr>
              <a:t>Mission｜私たちの使命</a:t>
            </a:r>
            <a:endParaRPr lang="en-US" sz="1300" dirty="0"/>
          </a:p>
        </p:txBody>
      </p:sp>
      <p:sp>
        <p:nvSpPr>
          <p:cNvPr id="9" name="Text 7"/>
          <p:cNvSpPr txBox="1"/>
          <p:nvPr/>
        </p:nvSpPr>
        <p:spPr>
          <a:xfrm>
            <a:off x="822960" y="3017520"/>
            <a:ext cx="4937760" cy="411480"/>
          </a:xfrm>
          <a:prstGeom prst="rect">
            <a:avLst/>
          </a:prstGeom>
          <a:noFill/>
          <a:ln/>
        </p:spPr>
        <p:txBody>
          <a:bodyPr wrap="square" lIns="0" tIns="0" rIns="0" bIns="0" rtlCol="0" anchor="t"/>
          <a:lstStyle/>
          <a:p>
            <a:pPr indent="0" marL="0">
              <a:lnSpc>
                <a:spcPct val="115000"/>
              </a:lnSpc>
              <a:buNone/>
            </a:pPr>
            <a:r>
              <a:rPr lang="en-US" sz="1600" b="1" dirty="0">
                <a:solidFill>
                  <a:schemeClr val="tx2"/>
                </a:solidFill>
              </a:rPr>
              <a:t>医療福祉の力で健康と幸せを創造する</a:t>
            </a:r>
            <a:endParaRPr lang="en-US" sz="1600" dirty="0"/>
          </a:p>
        </p:txBody>
      </p:sp>
      <p:sp>
        <p:nvSpPr>
          <p:cNvPr id="10" name="Text 8"/>
          <p:cNvSpPr txBox="1"/>
          <p:nvPr/>
        </p:nvSpPr>
        <p:spPr>
          <a:xfrm>
            <a:off x="822960" y="3493008"/>
            <a:ext cx="4937760" cy="777240"/>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病気や障害を支えるだけでなく、その人が健康で、幸せを感じられる毎日を支えることが私たちの役割です。</a:t>
            </a:r>
            <a:endParaRPr lang="en-US" sz="1400" dirty="0"/>
          </a:p>
        </p:txBody>
      </p:sp>
      <p:sp>
        <p:nvSpPr>
          <p:cNvPr id="11" name="mv cm 1"/>
          <p:cNvSpPr/>
          <p:nvPr/>
        </p:nvSpPr>
        <p:spPr>
          <a:xfrm>
            <a:off x="777240" y="4343400"/>
            <a:ext cx="4983480" cy="822960"/>
          </a:xfrm>
          <a:prstGeom prst="roundRect">
            <a:avLst>
              <a:gd name="adj" fmla="val 13333"/>
            </a:avLst>
          </a:prstGeom>
          <a:solidFill>
            <a:srgbClr val="FFFFFF"/>
          </a:solidFill>
          <a:ln/>
        </p:spPr>
      </p:sp>
      <p:sp>
        <p:nvSpPr>
          <p:cNvPr id="12" name="Text 10"/>
          <p:cNvSpPr txBox="1"/>
          <p:nvPr/>
        </p:nvSpPr>
        <p:spPr>
          <a:xfrm>
            <a:off x="914400" y="4389120"/>
            <a:ext cx="4709160" cy="731520"/>
          </a:xfrm>
          <a:prstGeom prst="rect">
            <a:avLst/>
          </a:prstGeom>
          <a:noFill/>
          <a:ln/>
        </p:spPr>
        <p:txBody>
          <a:bodyPr wrap="square" lIns="0" tIns="0" rIns="0" bIns="0" rtlCol="0" anchor="ctr"/>
          <a:lstStyle/>
          <a:p>
            <a:pPr indent="0" marL="0">
              <a:buNone/>
            </a:pPr>
            <a:r>
              <a:rPr lang="en-US" sz="1400" b="1" dirty="0">
                <a:solidFill>
                  <a:schemeClr val="accent1"/>
                </a:solidFill>
              </a:rPr>
              <a:t>ケアマネの仕事では　</a:t>
            </a:r>
            <a:pPr indent="0" marL="0">
              <a:buNone/>
            </a:pPr>
            <a:r>
              <a:rPr lang="en-US" sz="1400" dirty="0">
                <a:solidFill>
                  <a:schemeClr val="tx1"/>
                </a:solidFill>
              </a:rPr>
              <a:t>本人が大切にしている暮らしや楽しみを、ケアプランの目標に反映します。</a:t>
            </a:r>
            <a:endParaRPr lang="en-US" sz="1400" dirty="0"/>
          </a:p>
        </p:txBody>
      </p:sp>
      <p:sp>
        <p:nvSpPr>
          <p:cNvPr id="13" name="mv card 2"/>
          <p:cNvSpPr/>
          <p:nvPr/>
        </p:nvSpPr>
        <p:spPr>
          <a:xfrm>
            <a:off x="6217920" y="2560320"/>
            <a:ext cx="5440680" cy="2743200"/>
          </a:xfrm>
          <a:prstGeom prst="roundRect">
            <a:avLst>
              <a:gd name="adj" fmla="val 4000"/>
            </a:avLst>
          </a:prstGeom>
          <a:solidFill>
            <a:schemeClr val="bg2"/>
          </a:solidFill>
          <a:ln/>
        </p:spPr>
      </p:sp>
      <p:sp>
        <p:nvSpPr>
          <p:cNvPr id="14" name="Text 12"/>
          <p:cNvSpPr txBox="1"/>
          <p:nvPr/>
        </p:nvSpPr>
        <p:spPr>
          <a:xfrm>
            <a:off x="6492240" y="2697480"/>
            <a:ext cx="4937760" cy="292608"/>
          </a:xfrm>
          <a:prstGeom prst="rect">
            <a:avLst/>
          </a:prstGeom>
          <a:noFill/>
          <a:ln/>
        </p:spPr>
        <p:txBody>
          <a:bodyPr wrap="square" lIns="0" tIns="0" rIns="0" bIns="0" rtlCol="0" anchor="t"/>
          <a:lstStyle/>
          <a:p>
            <a:pPr indent="0" marL="0">
              <a:lnSpc>
                <a:spcPct val="115000"/>
              </a:lnSpc>
              <a:buNone/>
            </a:pPr>
            <a:r>
              <a:rPr lang="en-US" sz="1300" b="1" dirty="0">
                <a:solidFill>
                  <a:schemeClr val="accent1"/>
                </a:solidFill>
              </a:rPr>
              <a:t>Vision｜目指す社会の姿</a:t>
            </a:r>
            <a:endParaRPr lang="en-US" sz="1300" dirty="0"/>
          </a:p>
        </p:txBody>
      </p:sp>
      <p:sp>
        <p:nvSpPr>
          <p:cNvPr id="15" name="Text 13"/>
          <p:cNvSpPr txBox="1"/>
          <p:nvPr/>
        </p:nvSpPr>
        <p:spPr>
          <a:xfrm>
            <a:off x="6492240" y="3017520"/>
            <a:ext cx="4937760" cy="411480"/>
          </a:xfrm>
          <a:prstGeom prst="rect">
            <a:avLst/>
          </a:prstGeom>
          <a:noFill/>
          <a:ln/>
        </p:spPr>
        <p:txBody>
          <a:bodyPr wrap="square" lIns="0" tIns="0" rIns="0" bIns="0" rtlCol="0" anchor="t"/>
          <a:lstStyle/>
          <a:p>
            <a:pPr indent="0" marL="0">
              <a:lnSpc>
                <a:spcPct val="115000"/>
              </a:lnSpc>
              <a:buNone/>
            </a:pPr>
            <a:r>
              <a:rPr lang="en-US" sz="1600" b="1" dirty="0">
                <a:solidFill>
                  <a:schemeClr val="tx2"/>
                </a:solidFill>
              </a:rPr>
              <a:t>すべての人がその人らしくいられる共生社会を創る</a:t>
            </a:r>
            <a:endParaRPr lang="en-US" sz="1600" dirty="0"/>
          </a:p>
        </p:txBody>
      </p:sp>
      <p:sp>
        <p:nvSpPr>
          <p:cNvPr id="16" name="Text 14"/>
          <p:cNvSpPr txBox="1"/>
          <p:nvPr/>
        </p:nvSpPr>
        <p:spPr>
          <a:xfrm>
            <a:off x="6492240" y="3493008"/>
            <a:ext cx="4937760" cy="777240"/>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年齢や病気、障害があっても、地域の中で自分らしく暮らし続けられる社会を目指します。</a:t>
            </a:r>
            <a:endParaRPr lang="en-US" sz="1400" dirty="0"/>
          </a:p>
        </p:txBody>
      </p:sp>
      <p:sp>
        <p:nvSpPr>
          <p:cNvPr id="17" name="mv cm 2"/>
          <p:cNvSpPr/>
          <p:nvPr/>
        </p:nvSpPr>
        <p:spPr>
          <a:xfrm>
            <a:off x="6446520" y="4343400"/>
            <a:ext cx="4983480" cy="822960"/>
          </a:xfrm>
          <a:prstGeom prst="roundRect">
            <a:avLst>
              <a:gd name="adj" fmla="val 13333"/>
            </a:avLst>
          </a:prstGeom>
          <a:solidFill>
            <a:srgbClr val="FFFFFF"/>
          </a:solidFill>
          <a:ln/>
        </p:spPr>
      </p:sp>
      <p:sp>
        <p:nvSpPr>
          <p:cNvPr id="18" name="Text 16"/>
          <p:cNvSpPr txBox="1"/>
          <p:nvPr/>
        </p:nvSpPr>
        <p:spPr>
          <a:xfrm>
            <a:off x="6583680" y="4389120"/>
            <a:ext cx="4709160" cy="731520"/>
          </a:xfrm>
          <a:prstGeom prst="rect">
            <a:avLst/>
          </a:prstGeom>
          <a:noFill/>
          <a:ln/>
        </p:spPr>
        <p:txBody>
          <a:bodyPr wrap="square" lIns="0" tIns="0" rIns="0" bIns="0" rtlCol="0" anchor="ctr"/>
          <a:lstStyle/>
          <a:p>
            <a:pPr indent="0" marL="0">
              <a:buNone/>
            </a:pPr>
            <a:r>
              <a:rPr lang="en-US" sz="1400" b="1" dirty="0">
                <a:solidFill>
                  <a:schemeClr val="accent1"/>
                </a:solidFill>
              </a:rPr>
              <a:t>ケアマネの仕事では　</a:t>
            </a:r>
            <a:pPr indent="0" marL="0">
              <a:buNone/>
            </a:pPr>
            <a:r>
              <a:rPr lang="en-US" sz="1400" dirty="0">
                <a:solidFill>
                  <a:schemeClr val="tx1"/>
                </a:solidFill>
              </a:rPr>
              <a:t>本人・家族・地域の関係者をつなぎ、住み慣れた暮らしを支えます。</a:t>
            </a:r>
            <a:endParaRPr lang="en-US" sz="1400" dirty="0"/>
          </a:p>
        </p:txBody>
      </p:sp>
      <p:sp>
        <p:nvSpPr>
          <p:cNvPr id="19" name="Text 17"/>
          <p:cNvSpPr txBox="1"/>
          <p:nvPr/>
        </p:nvSpPr>
        <p:spPr>
          <a:xfrm>
            <a:off x="548640" y="5532120"/>
            <a:ext cx="2103120" cy="457200"/>
          </a:xfrm>
          <a:prstGeom prst="rect">
            <a:avLst/>
          </a:prstGeom>
          <a:noFill/>
          <a:ln/>
        </p:spPr>
        <p:txBody>
          <a:bodyPr wrap="square" lIns="0" tIns="0" rIns="0" bIns="0" rtlCol="0" anchor="ctr"/>
          <a:lstStyle/>
          <a:p>
            <a:pPr indent="0" marL="0">
              <a:lnSpc>
                <a:spcPct val="115000"/>
              </a:lnSpc>
              <a:buNone/>
            </a:pPr>
            <a:r>
              <a:rPr lang="en-US" sz="1400" b="1" dirty="0">
                <a:solidFill>
                  <a:schemeClr val="tx2"/>
                </a:solidFill>
              </a:rPr>
              <a:t>Value｜行動の指針</a:t>
            </a:r>
            <a:endParaRPr lang="en-US" sz="1400" dirty="0"/>
          </a:p>
        </p:txBody>
      </p:sp>
      <p:sp>
        <p:nvSpPr>
          <p:cNvPr id="20" name="value 挑戦"/>
          <p:cNvSpPr/>
          <p:nvPr/>
        </p:nvSpPr>
        <p:spPr>
          <a:xfrm>
            <a:off x="2651760" y="5468112"/>
            <a:ext cx="685800" cy="603504"/>
          </a:xfrm>
          <a:prstGeom prst="hexagon">
            <a:avLst/>
          </a:prstGeom>
          <a:solidFill>
            <a:schemeClr val="accent3"/>
          </a:solidFill>
          <a:ln/>
        </p:spPr>
      </p:sp>
      <p:sp>
        <p:nvSpPr>
          <p:cNvPr id="21" name="Text 19"/>
          <p:cNvSpPr txBox="1"/>
          <p:nvPr/>
        </p:nvSpPr>
        <p:spPr>
          <a:xfrm>
            <a:off x="2651760" y="5468112"/>
            <a:ext cx="685800" cy="603504"/>
          </a:xfrm>
          <a:prstGeom prst="rect">
            <a:avLst/>
          </a:prstGeom>
          <a:noFill/>
          <a:ln/>
        </p:spPr>
        <p:txBody>
          <a:bodyPr wrap="square" lIns="0" tIns="0" rIns="0" bIns="0" rtlCol="0" anchor="ctr"/>
          <a:lstStyle/>
          <a:p>
            <a:pPr algn="ctr" indent="0" marL="0">
              <a:buNone/>
            </a:pPr>
            <a:r>
              <a:rPr lang="en-US" sz="1200" b="1" dirty="0">
                <a:solidFill>
                  <a:schemeClr val="tx2"/>
                </a:solidFill>
              </a:rPr>
              <a:t>挑戦</a:t>
            </a:r>
            <a:endParaRPr lang="en-US" sz="1200" dirty="0"/>
          </a:p>
        </p:txBody>
      </p:sp>
      <p:sp>
        <p:nvSpPr>
          <p:cNvPr id="22" name="value 変革"/>
          <p:cNvSpPr/>
          <p:nvPr/>
        </p:nvSpPr>
        <p:spPr>
          <a:xfrm>
            <a:off x="3566160" y="5468112"/>
            <a:ext cx="685800" cy="603504"/>
          </a:xfrm>
          <a:prstGeom prst="hexagon">
            <a:avLst/>
          </a:prstGeom>
          <a:solidFill>
            <a:schemeClr val="accent4"/>
          </a:solidFill>
          <a:ln/>
        </p:spPr>
      </p:sp>
      <p:sp>
        <p:nvSpPr>
          <p:cNvPr id="23" name="Text 21"/>
          <p:cNvSpPr txBox="1"/>
          <p:nvPr/>
        </p:nvSpPr>
        <p:spPr>
          <a:xfrm>
            <a:off x="3566160" y="5468112"/>
            <a:ext cx="685800" cy="603504"/>
          </a:xfrm>
          <a:prstGeom prst="rect">
            <a:avLst/>
          </a:prstGeom>
          <a:noFill/>
          <a:ln/>
        </p:spPr>
        <p:txBody>
          <a:bodyPr wrap="square" lIns="0" tIns="0" rIns="0" bIns="0" rtlCol="0" anchor="ctr"/>
          <a:lstStyle/>
          <a:p>
            <a:pPr algn="ctr" indent="0" marL="0">
              <a:buNone/>
            </a:pPr>
            <a:r>
              <a:rPr lang="en-US" sz="1200" b="1" dirty="0">
                <a:solidFill>
                  <a:schemeClr val="tx2"/>
                </a:solidFill>
              </a:rPr>
              <a:t>変革</a:t>
            </a:r>
            <a:endParaRPr lang="en-US" sz="1200" dirty="0"/>
          </a:p>
        </p:txBody>
      </p:sp>
      <p:sp>
        <p:nvSpPr>
          <p:cNvPr id="24" name="value 専門性"/>
          <p:cNvSpPr/>
          <p:nvPr/>
        </p:nvSpPr>
        <p:spPr>
          <a:xfrm>
            <a:off x="4480560" y="5468112"/>
            <a:ext cx="685800" cy="603504"/>
          </a:xfrm>
          <a:prstGeom prst="hexagon">
            <a:avLst/>
          </a:prstGeom>
          <a:solidFill>
            <a:schemeClr val="accent3"/>
          </a:solidFill>
          <a:ln/>
        </p:spPr>
      </p:sp>
      <p:sp>
        <p:nvSpPr>
          <p:cNvPr id="25" name="Text 23"/>
          <p:cNvSpPr txBox="1"/>
          <p:nvPr/>
        </p:nvSpPr>
        <p:spPr>
          <a:xfrm>
            <a:off x="4480560" y="5468112"/>
            <a:ext cx="685800" cy="603504"/>
          </a:xfrm>
          <a:prstGeom prst="rect">
            <a:avLst/>
          </a:prstGeom>
          <a:noFill/>
          <a:ln/>
        </p:spPr>
        <p:txBody>
          <a:bodyPr wrap="square" lIns="0" tIns="0" rIns="0" bIns="0" rtlCol="0" anchor="ctr"/>
          <a:lstStyle/>
          <a:p>
            <a:pPr algn="ctr" indent="0" marL="0">
              <a:buNone/>
            </a:pPr>
            <a:r>
              <a:rPr lang="en-US" sz="1000" b="1" dirty="0">
                <a:solidFill>
                  <a:schemeClr val="tx2"/>
                </a:solidFill>
              </a:rPr>
              <a:t>専門性</a:t>
            </a:r>
            <a:endParaRPr lang="en-US" sz="1000" dirty="0"/>
          </a:p>
        </p:txBody>
      </p:sp>
      <p:sp>
        <p:nvSpPr>
          <p:cNvPr id="26" name="value 誠意"/>
          <p:cNvSpPr/>
          <p:nvPr/>
        </p:nvSpPr>
        <p:spPr>
          <a:xfrm>
            <a:off x="5394960" y="5468112"/>
            <a:ext cx="685800" cy="603504"/>
          </a:xfrm>
          <a:prstGeom prst="hexagon">
            <a:avLst/>
          </a:prstGeom>
          <a:solidFill>
            <a:schemeClr val="accent4"/>
          </a:solidFill>
          <a:ln/>
        </p:spPr>
      </p:sp>
      <p:sp>
        <p:nvSpPr>
          <p:cNvPr id="27" name="Text 25"/>
          <p:cNvSpPr txBox="1"/>
          <p:nvPr/>
        </p:nvSpPr>
        <p:spPr>
          <a:xfrm>
            <a:off x="5394960" y="5468112"/>
            <a:ext cx="685800" cy="603504"/>
          </a:xfrm>
          <a:prstGeom prst="rect">
            <a:avLst/>
          </a:prstGeom>
          <a:noFill/>
          <a:ln/>
        </p:spPr>
        <p:txBody>
          <a:bodyPr wrap="square" lIns="0" tIns="0" rIns="0" bIns="0" rtlCol="0" anchor="ctr"/>
          <a:lstStyle/>
          <a:p>
            <a:pPr algn="ctr" indent="0" marL="0">
              <a:buNone/>
            </a:pPr>
            <a:r>
              <a:rPr lang="en-US" sz="1200" b="1" dirty="0">
                <a:solidFill>
                  <a:schemeClr val="tx2"/>
                </a:solidFill>
              </a:rPr>
              <a:t>誠意</a:t>
            </a:r>
            <a:endParaRPr lang="en-US" sz="1200" dirty="0"/>
          </a:p>
        </p:txBody>
      </p:sp>
      <p:sp>
        <p:nvSpPr>
          <p:cNvPr id="28" name="value 貢献"/>
          <p:cNvSpPr/>
          <p:nvPr/>
        </p:nvSpPr>
        <p:spPr>
          <a:xfrm>
            <a:off x="6309360" y="5468112"/>
            <a:ext cx="685800" cy="603504"/>
          </a:xfrm>
          <a:prstGeom prst="hexagon">
            <a:avLst/>
          </a:prstGeom>
          <a:solidFill>
            <a:schemeClr val="accent3"/>
          </a:solidFill>
          <a:ln/>
        </p:spPr>
      </p:sp>
      <p:sp>
        <p:nvSpPr>
          <p:cNvPr id="29" name="Text 27"/>
          <p:cNvSpPr txBox="1"/>
          <p:nvPr/>
        </p:nvSpPr>
        <p:spPr>
          <a:xfrm>
            <a:off x="6309360" y="5468112"/>
            <a:ext cx="685800" cy="603504"/>
          </a:xfrm>
          <a:prstGeom prst="rect">
            <a:avLst/>
          </a:prstGeom>
          <a:noFill/>
          <a:ln/>
        </p:spPr>
        <p:txBody>
          <a:bodyPr wrap="square" lIns="0" tIns="0" rIns="0" bIns="0" rtlCol="0" anchor="ctr"/>
          <a:lstStyle/>
          <a:p>
            <a:pPr algn="ctr" indent="0" marL="0">
              <a:buNone/>
            </a:pPr>
            <a:r>
              <a:rPr lang="en-US" sz="1200" b="1" dirty="0">
                <a:solidFill>
                  <a:schemeClr val="tx2"/>
                </a:solidFill>
              </a:rPr>
              <a:t>貢献</a:t>
            </a:r>
            <a:endParaRPr lang="en-US" sz="1200" dirty="0"/>
          </a:p>
        </p:txBody>
      </p:sp>
      <p:sp>
        <p:nvSpPr>
          <p:cNvPr id="30" name="Text 28"/>
          <p:cNvSpPr txBox="1"/>
          <p:nvPr/>
        </p:nvSpPr>
        <p:spPr>
          <a:xfrm>
            <a:off x="7315200" y="5532120"/>
            <a:ext cx="4343400" cy="457200"/>
          </a:xfrm>
          <a:prstGeom prst="rect">
            <a:avLst/>
          </a:prstGeom>
          <a:noFill/>
          <a:ln/>
        </p:spPr>
        <p:txBody>
          <a:bodyPr wrap="square" lIns="0" tIns="0" rIns="0" bIns="0" rtlCol="0" anchor="ctr"/>
          <a:lstStyle/>
          <a:p>
            <a:pPr indent="0" marL="0">
              <a:lnSpc>
                <a:spcPct val="115000"/>
              </a:lnSpc>
              <a:buNone/>
            </a:pPr>
            <a:r>
              <a:rPr lang="en-US" sz="1200" dirty="0">
                <a:solidFill>
                  <a:schemeClr val="accent5"/>
                </a:solidFill>
              </a:rPr>
              <a:t>→ 10ページで、働く仲間への思いと合わせてご紹介します</a:t>
            </a:r>
            <a:endParaRPr lang="en-US" sz="1200" dirty="0"/>
          </a:p>
        </p:txBody>
      </p:sp>
      <p:sp>
        <p:nvSpPr>
          <p:cNvPr id="25" name="Slide Number Placeholder 0"/>
          <p:cNvSpPr>
            <a:spLocks noGrp="1"/>
          </p:cNvSpPr>
          <p:nvPr>
            <p:ph type="sldNum" sz="quarter" idx="4294967295"/>
          </p:nvPr>
        </p:nvSpPr>
        <p:spPr>
          <a:xfrm>
            <a:off x="548640" y="635508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1"/>
                </a:solidFill>
              </a:defRPr>
            </a:lvl1pPr>
          </a:lstStyle>
          <a:p>
            <a:pPr algn="l"/>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ケアマネジャーとして大切にしたい支援</a:t>
            </a:r>
            <a:endParaRPr lang="en-US" sz="3000" dirty="0"/>
          </a:p>
        </p:txBody>
      </p:sp>
      <p:sp>
        <p:nvSpPr>
          <p:cNvPr id="3" name="Text 1"/>
          <p:cNvSpPr txBox="1"/>
          <p:nvPr/>
        </p:nvSpPr>
        <p:spPr>
          <a:xfrm>
            <a:off x="548640" y="1234440"/>
            <a:ext cx="11064240" cy="411480"/>
          </a:xfrm>
          <a:prstGeom prst="rect">
            <a:avLst/>
          </a:prstGeom>
          <a:noFill/>
          <a:ln/>
        </p:spPr>
        <p:txBody>
          <a:bodyPr wrap="square" lIns="0" tIns="0" rIns="0" bIns="0" rtlCol="0" anchor="t"/>
          <a:lstStyle/>
          <a:p>
            <a:pPr indent="0" marL="0">
              <a:lnSpc>
                <a:spcPct val="115000"/>
              </a:lnSpc>
              <a:buNone/>
            </a:pPr>
            <a:r>
              <a:rPr lang="en-US" sz="1800" b="1" dirty="0">
                <a:solidFill>
                  <a:schemeClr val="accent1"/>
                </a:solidFill>
              </a:rPr>
              <a:t>「どのサービスを入れるか」の前に、「どう暮らしたいか」を一緒に考えます。</a:t>
            </a:r>
            <a:endParaRPr lang="en-US" sz="1800" dirty="0"/>
          </a:p>
        </p:txBody>
      </p:sp>
      <p:sp>
        <p:nvSpPr>
          <p:cNvPr id="4" name="approach 1"/>
          <p:cNvSpPr/>
          <p:nvPr/>
        </p:nvSpPr>
        <p:spPr>
          <a:xfrm>
            <a:off x="548640" y="1828800"/>
            <a:ext cx="3337560" cy="2011680"/>
          </a:xfrm>
          <a:prstGeom prst="roundRect">
            <a:avLst>
              <a:gd name="adj" fmla="val 5455"/>
            </a:avLst>
          </a:prstGeom>
          <a:solidFill>
            <a:schemeClr val="bg2"/>
          </a:solidFill>
          <a:ln/>
        </p:spPr>
      </p:sp>
      <p:sp>
        <p:nvSpPr>
          <p:cNvPr id="5" name="Shape 3"/>
          <p:cNvSpPr/>
          <p:nvPr/>
        </p:nvSpPr>
        <p:spPr>
          <a:xfrm>
            <a:off x="777240" y="2029968"/>
            <a:ext cx="566928" cy="498897"/>
          </a:xfrm>
          <a:prstGeom prst="hexagon">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24641" y="2143354"/>
            <a:ext cx="272125" cy="272125"/>
          </a:xfrm>
          <a:prstGeom prst="rect">
            <a:avLst/>
          </a:prstGeom>
        </p:spPr>
      </p:pic>
      <p:sp>
        <p:nvSpPr>
          <p:cNvPr id="7" name="Text 4"/>
          <p:cNvSpPr txBox="1"/>
          <p:nvPr/>
        </p:nvSpPr>
        <p:spPr>
          <a:xfrm>
            <a:off x="1444752" y="2066544"/>
            <a:ext cx="2377440" cy="411480"/>
          </a:xfrm>
          <a:prstGeom prst="rect">
            <a:avLst/>
          </a:prstGeom>
          <a:noFill/>
          <a:ln/>
        </p:spPr>
        <p:txBody>
          <a:bodyPr wrap="square" lIns="0" tIns="0" rIns="0" bIns="0" rtlCol="0" anchor="ctr"/>
          <a:lstStyle/>
          <a:p>
            <a:pPr indent="0" marL="0">
              <a:lnSpc>
                <a:spcPct val="115000"/>
              </a:lnSpc>
              <a:buNone/>
            </a:pPr>
            <a:r>
              <a:rPr lang="en-US" sz="1500" b="1" dirty="0">
                <a:solidFill>
                  <a:schemeClr val="tx2"/>
                </a:solidFill>
              </a:rPr>
              <a:t>本人の言葉で聴く</a:t>
            </a:r>
            <a:endParaRPr lang="en-US" sz="1500" dirty="0"/>
          </a:p>
        </p:txBody>
      </p:sp>
      <p:sp>
        <p:nvSpPr>
          <p:cNvPr id="8" name="Text 5"/>
          <p:cNvSpPr txBox="1"/>
          <p:nvPr/>
        </p:nvSpPr>
        <p:spPr>
          <a:xfrm>
            <a:off x="777240" y="2606040"/>
            <a:ext cx="2926080" cy="1188720"/>
          </a:xfrm>
          <a:prstGeom prst="rect">
            <a:avLst/>
          </a:prstGeom>
          <a:noFill/>
          <a:ln/>
        </p:spPr>
        <p:txBody>
          <a:bodyPr wrap="square" lIns="0" tIns="0" rIns="0" bIns="0" rtlCol="0" anchor="t"/>
          <a:lstStyle/>
          <a:p>
            <a:pPr indent="0" marL="0">
              <a:lnSpc>
                <a:spcPct val="115000"/>
              </a:lnSpc>
              <a:buNone/>
            </a:pPr>
            <a:r>
              <a:rPr lang="en-US" sz="1350" dirty="0">
                <a:solidFill>
                  <a:schemeClr val="tx1"/>
                </a:solidFill>
              </a:rPr>
              <a:t>家族や専門職の意見だけで決めず、本人の望みを確かめます。言葉にしにくい方の思いも、表情や暮らし方から汲み取ります。</a:t>
            </a:r>
            <a:endParaRPr lang="en-US" sz="1350" dirty="0"/>
          </a:p>
        </p:txBody>
      </p:sp>
      <p:sp>
        <p:nvSpPr>
          <p:cNvPr id="9" name="approach 2"/>
          <p:cNvSpPr/>
          <p:nvPr/>
        </p:nvSpPr>
        <p:spPr>
          <a:xfrm>
            <a:off x="4069080" y="1828800"/>
            <a:ext cx="3337560" cy="2011680"/>
          </a:xfrm>
          <a:prstGeom prst="roundRect">
            <a:avLst>
              <a:gd name="adj" fmla="val 5455"/>
            </a:avLst>
          </a:prstGeom>
          <a:solidFill>
            <a:schemeClr val="bg2"/>
          </a:solidFill>
          <a:ln/>
        </p:spPr>
      </p:sp>
      <p:sp>
        <p:nvSpPr>
          <p:cNvPr id="10" name="Shape 7"/>
          <p:cNvSpPr/>
          <p:nvPr/>
        </p:nvSpPr>
        <p:spPr>
          <a:xfrm>
            <a:off x="4297680" y="2029968"/>
            <a:ext cx="566928" cy="498897"/>
          </a:xfrm>
          <a:prstGeom prst="hexagon">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4445081" y="2143354"/>
            <a:ext cx="272125" cy="272125"/>
          </a:xfrm>
          <a:prstGeom prst="rect">
            <a:avLst/>
          </a:prstGeom>
        </p:spPr>
      </p:pic>
      <p:sp>
        <p:nvSpPr>
          <p:cNvPr id="12" name="Text 8"/>
          <p:cNvSpPr txBox="1"/>
          <p:nvPr/>
        </p:nvSpPr>
        <p:spPr>
          <a:xfrm>
            <a:off x="4965192" y="2066544"/>
            <a:ext cx="2377440" cy="411480"/>
          </a:xfrm>
          <a:prstGeom prst="rect">
            <a:avLst/>
          </a:prstGeom>
          <a:noFill/>
          <a:ln/>
        </p:spPr>
        <p:txBody>
          <a:bodyPr wrap="square" lIns="0" tIns="0" rIns="0" bIns="0" rtlCol="0" anchor="ctr"/>
          <a:lstStyle/>
          <a:p>
            <a:pPr indent="0" marL="0">
              <a:lnSpc>
                <a:spcPct val="115000"/>
              </a:lnSpc>
              <a:buNone/>
            </a:pPr>
            <a:r>
              <a:rPr lang="en-US" sz="1500" b="1" dirty="0">
                <a:solidFill>
                  <a:schemeClr val="tx2"/>
                </a:solidFill>
              </a:rPr>
              <a:t>生活背景に目を向ける</a:t>
            </a:r>
            <a:endParaRPr lang="en-US" sz="1500" dirty="0"/>
          </a:p>
        </p:txBody>
      </p:sp>
      <p:sp>
        <p:nvSpPr>
          <p:cNvPr id="13" name="Text 9"/>
          <p:cNvSpPr txBox="1"/>
          <p:nvPr/>
        </p:nvSpPr>
        <p:spPr>
          <a:xfrm>
            <a:off x="4297680" y="2606040"/>
            <a:ext cx="2926080" cy="1188720"/>
          </a:xfrm>
          <a:prstGeom prst="rect">
            <a:avLst/>
          </a:prstGeom>
          <a:noFill/>
          <a:ln/>
        </p:spPr>
        <p:txBody>
          <a:bodyPr wrap="square" lIns="0" tIns="0" rIns="0" bIns="0" rtlCol="0" anchor="t"/>
          <a:lstStyle/>
          <a:p>
            <a:pPr indent="0" marL="0">
              <a:lnSpc>
                <a:spcPct val="115000"/>
              </a:lnSpc>
              <a:buNone/>
            </a:pPr>
            <a:r>
              <a:rPr lang="en-US" sz="1350" dirty="0">
                <a:solidFill>
                  <a:schemeClr val="tx1"/>
                </a:solidFill>
              </a:rPr>
              <a:t>病状や身体の状態だけでなく、生活歴、役割、楽しみ、住まい、家族関係など、暮らし全体を理解します。</a:t>
            </a:r>
            <a:endParaRPr lang="en-US" sz="1350" dirty="0"/>
          </a:p>
        </p:txBody>
      </p:sp>
      <p:sp>
        <p:nvSpPr>
          <p:cNvPr id="14" name="approach 3"/>
          <p:cNvSpPr/>
          <p:nvPr/>
        </p:nvSpPr>
        <p:spPr>
          <a:xfrm>
            <a:off x="548640" y="3977640"/>
            <a:ext cx="3337560" cy="2011680"/>
          </a:xfrm>
          <a:prstGeom prst="roundRect">
            <a:avLst>
              <a:gd name="adj" fmla="val 5455"/>
            </a:avLst>
          </a:prstGeom>
          <a:solidFill>
            <a:schemeClr val="bg2"/>
          </a:solidFill>
          <a:ln/>
        </p:spPr>
      </p:sp>
      <p:sp>
        <p:nvSpPr>
          <p:cNvPr id="15" name="Shape 11"/>
          <p:cNvSpPr/>
          <p:nvPr/>
        </p:nvSpPr>
        <p:spPr>
          <a:xfrm>
            <a:off x="777240" y="4178808"/>
            <a:ext cx="566928" cy="498897"/>
          </a:xfrm>
          <a:prstGeom prst="hexagon">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924641" y="4292194"/>
            <a:ext cx="272125" cy="272125"/>
          </a:xfrm>
          <a:prstGeom prst="rect">
            <a:avLst/>
          </a:prstGeom>
        </p:spPr>
      </p:pic>
      <p:sp>
        <p:nvSpPr>
          <p:cNvPr id="17" name="Text 12"/>
          <p:cNvSpPr txBox="1"/>
          <p:nvPr/>
        </p:nvSpPr>
        <p:spPr>
          <a:xfrm>
            <a:off x="1444752" y="4215384"/>
            <a:ext cx="2377440" cy="411480"/>
          </a:xfrm>
          <a:prstGeom prst="rect">
            <a:avLst/>
          </a:prstGeom>
          <a:noFill/>
          <a:ln/>
        </p:spPr>
        <p:txBody>
          <a:bodyPr wrap="square" lIns="0" tIns="0" rIns="0" bIns="0" rtlCol="0" anchor="ctr"/>
          <a:lstStyle/>
          <a:p>
            <a:pPr indent="0" marL="0">
              <a:lnSpc>
                <a:spcPct val="115000"/>
              </a:lnSpc>
              <a:buNone/>
            </a:pPr>
            <a:r>
              <a:rPr lang="en-US" sz="1500" b="1" dirty="0">
                <a:solidFill>
                  <a:schemeClr val="tx2"/>
                </a:solidFill>
              </a:rPr>
              <a:t>選択肢を示し、本人が選ぶ</a:t>
            </a:r>
            <a:endParaRPr lang="en-US" sz="1500" dirty="0"/>
          </a:p>
        </p:txBody>
      </p:sp>
      <p:sp>
        <p:nvSpPr>
          <p:cNvPr id="18" name="Text 13"/>
          <p:cNvSpPr txBox="1"/>
          <p:nvPr/>
        </p:nvSpPr>
        <p:spPr>
          <a:xfrm>
            <a:off x="777240" y="4754880"/>
            <a:ext cx="2926080" cy="1188720"/>
          </a:xfrm>
          <a:prstGeom prst="rect">
            <a:avLst/>
          </a:prstGeom>
          <a:noFill/>
          <a:ln/>
        </p:spPr>
        <p:txBody>
          <a:bodyPr wrap="square" lIns="0" tIns="0" rIns="0" bIns="0" rtlCol="0" anchor="t"/>
          <a:lstStyle/>
          <a:p>
            <a:pPr indent="0" marL="0">
              <a:lnSpc>
                <a:spcPct val="115000"/>
              </a:lnSpc>
              <a:buNone/>
            </a:pPr>
            <a:r>
              <a:rPr lang="en-US" sz="1350" dirty="0">
                <a:solidFill>
                  <a:schemeClr val="tx1"/>
                </a:solidFill>
              </a:rPr>
              <a:t>サービスや方法をメリットと負担も含めて分かりやすく伝え、本人と家族が納得して選べるよう支えます。</a:t>
            </a:r>
            <a:endParaRPr lang="en-US" sz="1350" dirty="0"/>
          </a:p>
        </p:txBody>
      </p:sp>
      <p:sp>
        <p:nvSpPr>
          <p:cNvPr id="19" name="approach 4"/>
          <p:cNvSpPr/>
          <p:nvPr/>
        </p:nvSpPr>
        <p:spPr>
          <a:xfrm>
            <a:off x="4069080" y="3977640"/>
            <a:ext cx="3337560" cy="2011680"/>
          </a:xfrm>
          <a:prstGeom prst="roundRect">
            <a:avLst>
              <a:gd name="adj" fmla="val 5455"/>
            </a:avLst>
          </a:prstGeom>
          <a:solidFill>
            <a:schemeClr val="bg2"/>
          </a:solidFill>
          <a:ln/>
        </p:spPr>
      </p:sp>
      <p:sp>
        <p:nvSpPr>
          <p:cNvPr id="20" name="Shape 15"/>
          <p:cNvSpPr/>
          <p:nvPr/>
        </p:nvSpPr>
        <p:spPr>
          <a:xfrm>
            <a:off x="4297680" y="4178808"/>
            <a:ext cx="566928" cy="498897"/>
          </a:xfrm>
          <a:prstGeom prst="hexagon">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4445081" y="4292194"/>
            <a:ext cx="272125" cy="272125"/>
          </a:xfrm>
          <a:prstGeom prst="rect">
            <a:avLst/>
          </a:prstGeom>
        </p:spPr>
      </p:pic>
      <p:sp>
        <p:nvSpPr>
          <p:cNvPr id="22" name="Text 16"/>
          <p:cNvSpPr txBox="1"/>
          <p:nvPr/>
        </p:nvSpPr>
        <p:spPr>
          <a:xfrm>
            <a:off x="4965192" y="4215384"/>
            <a:ext cx="2377440" cy="411480"/>
          </a:xfrm>
          <a:prstGeom prst="rect">
            <a:avLst/>
          </a:prstGeom>
          <a:noFill/>
          <a:ln/>
        </p:spPr>
        <p:txBody>
          <a:bodyPr wrap="square" lIns="0" tIns="0" rIns="0" bIns="0" rtlCol="0" anchor="ctr"/>
          <a:lstStyle/>
          <a:p>
            <a:pPr indent="0" marL="0">
              <a:lnSpc>
                <a:spcPct val="115000"/>
              </a:lnSpc>
              <a:buNone/>
            </a:pPr>
            <a:r>
              <a:rPr lang="en-US" sz="1500" b="1" dirty="0">
                <a:solidFill>
                  <a:schemeClr val="tx2"/>
                </a:solidFill>
              </a:rPr>
              <a:t>変化に合わせて見直す</a:t>
            </a:r>
            <a:endParaRPr lang="en-US" sz="1500" dirty="0"/>
          </a:p>
        </p:txBody>
      </p:sp>
      <p:sp>
        <p:nvSpPr>
          <p:cNvPr id="23" name="Text 17"/>
          <p:cNvSpPr txBox="1"/>
          <p:nvPr/>
        </p:nvSpPr>
        <p:spPr>
          <a:xfrm>
            <a:off x="4297680" y="4754880"/>
            <a:ext cx="2926080" cy="1188720"/>
          </a:xfrm>
          <a:prstGeom prst="rect">
            <a:avLst/>
          </a:prstGeom>
          <a:noFill/>
          <a:ln/>
        </p:spPr>
        <p:txBody>
          <a:bodyPr wrap="square" lIns="0" tIns="0" rIns="0" bIns="0" rtlCol="0" anchor="t"/>
          <a:lstStyle/>
          <a:p>
            <a:pPr indent="0" marL="0">
              <a:lnSpc>
                <a:spcPct val="115000"/>
              </a:lnSpc>
              <a:buNone/>
            </a:pPr>
            <a:r>
              <a:rPr lang="en-US" sz="1350" dirty="0">
                <a:solidFill>
                  <a:schemeClr val="tx1"/>
                </a:solidFill>
              </a:rPr>
              <a:t>入退院や心身・家族の状況の変化に気づいたら、関係者と共有し、プランを柔軟に見直します。</a:t>
            </a:r>
            <a:endParaRPr lang="en-US" sz="1350" dirty="0"/>
          </a:p>
        </p:txBody>
      </p:sp>
      <p:sp>
        <p:nvSpPr>
          <p:cNvPr id="24" name="example card"/>
          <p:cNvSpPr/>
          <p:nvPr/>
        </p:nvSpPr>
        <p:spPr>
          <a:xfrm>
            <a:off x="7726680" y="1828800"/>
            <a:ext cx="3931920" cy="4160520"/>
          </a:xfrm>
          <a:prstGeom prst="roundRect">
            <a:avLst>
              <a:gd name="adj" fmla="val 2791"/>
            </a:avLst>
          </a:prstGeom>
          <a:solidFill>
            <a:schemeClr val="accent3"/>
          </a:solidFill>
          <a:ln/>
        </p:spPr>
      </p:sp>
      <p:sp>
        <p:nvSpPr>
          <p:cNvPr id="25" name="Text 19"/>
          <p:cNvSpPr txBox="1"/>
          <p:nvPr/>
        </p:nvSpPr>
        <p:spPr>
          <a:xfrm>
            <a:off x="8001000" y="2011680"/>
            <a:ext cx="3474720" cy="320040"/>
          </a:xfrm>
          <a:prstGeom prst="rect">
            <a:avLst/>
          </a:prstGeom>
          <a:noFill/>
          <a:ln/>
        </p:spPr>
        <p:txBody>
          <a:bodyPr wrap="square" lIns="0" tIns="0" rIns="0" bIns="0" rtlCol="0" anchor="t"/>
          <a:lstStyle/>
          <a:p>
            <a:pPr indent="0" marL="0">
              <a:lnSpc>
                <a:spcPct val="115000"/>
              </a:lnSpc>
              <a:buNone/>
            </a:pPr>
            <a:r>
              <a:rPr lang="en-US" sz="1400" b="1" dirty="0">
                <a:solidFill>
                  <a:schemeClr val="accent1"/>
                </a:solidFill>
              </a:rPr>
              <a:t>大切にしたい関わり方の例</a:t>
            </a:r>
            <a:endParaRPr lang="en-US" sz="1400" dirty="0"/>
          </a:p>
        </p:txBody>
      </p:sp>
      <p:sp>
        <p:nvSpPr>
          <p:cNvPr id="26" name="Text 20"/>
          <p:cNvSpPr txBox="1"/>
          <p:nvPr/>
        </p:nvSpPr>
        <p:spPr>
          <a:xfrm>
            <a:off x="8001000" y="2423160"/>
            <a:ext cx="3474720" cy="685800"/>
          </a:xfrm>
          <a:prstGeom prst="rect">
            <a:avLst/>
          </a:prstGeom>
          <a:noFill/>
          <a:ln/>
        </p:spPr>
        <p:txBody>
          <a:bodyPr wrap="square" lIns="0" tIns="0" rIns="0" bIns="0" rtlCol="0" anchor="t"/>
          <a:lstStyle/>
          <a:p>
            <a:pPr indent="0" marL="0">
              <a:lnSpc>
                <a:spcPct val="115000"/>
              </a:lnSpc>
              <a:buNone/>
            </a:pPr>
            <a:r>
              <a:rPr lang="en-US" sz="1700" b="1" dirty="0">
                <a:solidFill>
                  <a:schemeClr val="tx2"/>
                </a:solidFill>
              </a:rPr>
              <a:t>「もう一度、自分で買い物に行きたい」</a:t>
            </a:r>
            <a:endParaRPr lang="en-US" sz="1700" dirty="0"/>
          </a:p>
        </p:txBody>
      </p:sp>
      <p:sp>
        <p:nvSpPr>
          <p:cNvPr id="27" name="Text 21"/>
          <p:cNvSpPr txBox="1"/>
          <p:nvPr/>
        </p:nvSpPr>
        <p:spPr>
          <a:xfrm>
            <a:off x="8001000" y="3200400"/>
            <a:ext cx="3474720" cy="265176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en-US" sz="1400" dirty="0">
                <a:solidFill>
                  <a:schemeClr val="tx1"/>
                </a:solidFill>
              </a:rPr>
              <a:t>その言葉の背景（行きたい店、誰と行きたいか、不安なこと）を聴く</a:t>
            </a:r>
            <a:endParaRPr lang="en-US" sz="1400" dirty="0"/>
          </a:p>
          <a:p>
            <a:pPr marL="203200" indent="-203200">
              <a:lnSpc>
                <a:spcPct val="110000"/>
              </a:lnSpc>
              <a:spcAft>
                <a:spcPts val="800"/>
              </a:spcAft>
              <a:buSzPct val="100000"/>
              <a:buChar char="•"/>
            </a:pPr>
            <a:r>
              <a:rPr lang="en-US" sz="1400" dirty="0">
                <a:solidFill>
                  <a:schemeClr val="tx1"/>
                </a:solidFill>
              </a:rPr>
              <a:t>目標としてケアプランに書き、本人と共有する</a:t>
            </a:r>
            <a:endParaRPr lang="en-US" sz="1400" dirty="0"/>
          </a:p>
          <a:p>
            <a:pPr marL="203200" indent="-203200">
              <a:lnSpc>
                <a:spcPct val="110000"/>
              </a:lnSpc>
              <a:spcAft>
                <a:spcPts val="800"/>
              </a:spcAft>
              <a:buSzPct val="100000"/>
              <a:buChar char="•"/>
            </a:pPr>
            <a:r>
              <a:rPr lang="en-US" sz="1400" dirty="0">
                <a:solidFill>
                  <a:schemeClr val="tx1"/>
                </a:solidFill>
              </a:rPr>
              <a:t>リハビリ、通所、福祉用具など複数の選択肢を一緒に検討する</a:t>
            </a:r>
            <a:endParaRPr lang="en-US" sz="1400" dirty="0"/>
          </a:p>
          <a:p>
            <a:pPr marL="203200" indent="-203200">
              <a:lnSpc>
                <a:spcPct val="110000"/>
              </a:lnSpc>
              <a:spcAft>
                <a:spcPts val="800"/>
              </a:spcAft>
              <a:buSzPct val="100000"/>
              <a:buChar char="•"/>
            </a:pPr>
            <a:r>
              <a:rPr lang="en-US" sz="1400" dirty="0">
                <a:solidFill>
                  <a:schemeClr val="tx1"/>
                </a:solidFill>
              </a:rPr>
              <a:t>実際に試した結果を確かめ、次の一歩を考える</a:t>
            </a:r>
            <a:endParaRPr lang="en-US" sz="1400" dirty="0"/>
          </a:p>
        </p:txBody>
      </p:sp>
      <p:sp>
        <p:nvSpPr>
          <p:cNvPr id="25" name="Slide Number Placeholder 0"/>
          <p:cNvSpPr>
            <a:spLocks noGrp="1"/>
          </p:cNvSpPr>
          <p:nvPr>
            <p:ph type="sldNum" sz="quarter" idx="4294967295"/>
          </p:nvPr>
        </p:nvSpPr>
        <p:spPr>
          <a:xfrm>
            <a:off x="548640" y="635508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1"/>
                </a:solidFill>
              </a:defRPr>
            </a:lvl1pPr>
          </a:lstStyle>
          <a:p>
            <a:pPr algn="l"/>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仕事内容</a:t>
            </a:r>
            <a:endParaRPr lang="en-US" sz="3000" dirty="0"/>
          </a:p>
        </p:txBody>
      </p:sp>
      <p:sp>
        <p:nvSpPr>
          <p:cNvPr id="3" name="Text 1"/>
          <p:cNvSpPr txBox="1"/>
          <p:nvPr/>
        </p:nvSpPr>
        <p:spPr>
          <a:xfrm>
            <a:off x="548640" y="1234440"/>
            <a:ext cx="11064240" cy="365760"/>
          </a:xfrm>
          <a:prstGeom prst="rect">
            <a:avLst/>
          </a:prstGeom>
          <a:noFill/>
          <a:ln/>
        </p:spPr>
        <p:txBody>
          <a:bodyPr wrap="square" lIns="0" tIns="0" rIns="0" bIns="0" rtlCol="0" anchor="t"/>
          <a:lstStyle/>
          <a:p>
            <a:pPr indent="0" marL="0">
              <a:lnSpc>
                <a:spcPct val="115000"/>
              </a:lnSpc>
              <a:buNone/>
            </a:pPr>
            <a:r>
              <a:rPr lang="en-US" sz="1600" dirty="0">
                <a:solidFill>
                  <a:schemeClr val="tx1"/>
                </a:solidFill>
              </a:rPr>
              <a:t>居宅のケアマネジャーとしての、一般的な業務の流れです。</a:t>
            </a:r>
            <a:endParaRPr lang="en-US" sz="1600" dirty="0"/>
          </a:p>
        </p:txBody>
      </p:sp>
      <p:sp>
        <p:nvSpPr>
          <p:cNvPr id="4" name="step 1"/>
          <p:cNvSpPr/>
          <p:nvPr/>
        </p:nvSpPr>
        <p:spPr>
          <a:xfrm>
            <a:off x="548640" y="1783080"/>
            <a:ext cx="1737360" cy="2331720"/>
          </a:xfrm>
          <a:prstGeom prst="roundRect">
            <a:avLst>
              <a:gd name="adj" fmla="val 6316"/>
            </a:avLst>
          </a:prstGeom>
          <a:solidFill>
            <a:schemeClr val="bg2"/>
          </a:solidFill>
          <a:ln/>
        </p:spPr>
      </p:sp>
      <p:sp>
        <p:nvSpPr>
          <p:cNvPr id="5" name="Shape 3"/>
          <p:cNvSpPr/>
          <p:nvPr/>
        </p:nvSpPr>
        <p:spPr>
          <a:xfrm>
            <a:off x="1097280" y="1920240"/>
            <a:ext cx="640080" cy="563270"/>
          </a:xfrm>
          <a:prstGeom prst="hexagon">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1263701" y="2048256"/>
            <a:ext cx="307238" cy="307238"/>
          </a:xfrm>
          <a:prstGeom prst="rect">
            <a:avLst/>
          </a:prstGeom>
        </p:spPr>
      </p:pic>
      <p:sp>
        <p:nvSpPr>
          <p:cNvPr id="7" name="Text 4"/>
          <p:cNvSpPr txBox="1"/>
          <p:nvPr/>
        </p:nvSpPr>
        <p:spPr>
          <a:xfrm>
            <a:off x="658368" y="2560320"/>
            <a:ext cx="1517904" cy="457200"/>
          </a:xfrm>
          <a:prstGeom prst="rect">
            <a:avLst/>
          </a:prstGeom>
          <a:noFill/>
          <a:ln/>
        </p:spPr>
        <p:txBody>
          <a:bodyPr wrap="square" lIns="0" tIns="0" rIns="0" bIns="0" rtlCol="0" anchor="ctr"/>
          <a:lstStyle/>
          <a:p>
            <a:pPr algn="ctr" indent="0" marL="0">
              <a:lnSpc>
                <a:spcPct val="115000"/>
              </a:lnSpc>
              <a:buNone/>
            </a:pPr>
            <a:r>
              <a:rPr lang="en-US" sz="1400" b="1" dirty="0">
                <a:solidFill>
                  <a:schemeClr val="tx2"/>
                </a:solidFill>
              </a:rPr>
              <a:t>1. 相談・契約</a:t>
            </a:r>
            <a:endParaRPr lang="en-US" sz="1400" dirty="0"/>
          </a:p>
        </p:txBody>
      </p:sp>
      <p:sp>
        <p:nvSpPr>
          <p:cNvPr id="8" name="Text 5"/>
          <p:cNvSpPr txBox="1"/>
          <p:nvPr/>
        </p:nvSpPr>
        <p:spPr>
          <a:xfrm>
            <a:off x="685800" y="3017520"/>
            <a:ext cx="1463040" cy="1051560"/>
          </a:xfrm>
          <a:prstGeom prst="rect">
            <a:avLst/>
          </a:prstGeom>
          <a:noFill/>
          <a:ln/>
        </p:spPr>
        <p:txBody>
          <a:bodyPr wrap="square" lIns="0" tIns="0" rIns="0" bIns="0" rtlCol="0" anchor="t"/>
          <a:lstStyle/>
          <a:p>
            <a:pPr indent="0" marL="0">
              <a:lnSpc>
                <a:spcPct val="115000"/>
              </a:lnSpc>
              <a:buNone/>
            </a:pPr>
            <a:r>
              <a:rPr lang="en-US" sz="1250" dirty="0">
                <a:solidFill>
                  <a:schemeClr val="tx1"/>
                </a:solidFill>
              </a:rPr>
              <a:t>本人や家族、医療機関などから相談を受け、説明と契約を行う</a:t>
            </a:r>
            <a:endParaRPr lang="en-US" sz="1250" dirty="0"/>
          </a:p>
        </p:txBody>
      </p:sp>
      <p:sp>
        <p:nvSpPr>
          <p:cNvPr id="9" name="Shape 6"/>
          <p:cNvSpPr/>
          <p:nvPr/>
        </p:nvSpPr>
        <p:spPr>
          <a:xfrm>
            <a:off x="2304288" y="2834640"/>
            <a:ext cx="109728" cy="219456"/>
          </a:xfrm>
          <a:prstGeom prst="chevron">
            <a:avLst/>
          </a:prstGeom>
          <a:solidFill>
            <a:schemeClr val="accent2"/>
          </a:solidFill>
          <a:ln/>
        </p:spPr>
      </p:sp>
      <p:sp>
        <p:nvSpPr>
          <p:cNvPr id="10" name="step 2"/>
          <p:cNvSpPr/>
          <p:nvPr/>
        </p:nvSpPr>
        <p:spPr>
          <a:xfrm>
            <a:off x="2423160" y="1783080"/>
            <a:ext cx="1737360" cy="2331720"/>
          </a:xfrm>
          <a:prstGeom prst="roundRect">
            <a:avLst>
              <a:gd name="adj" fmla="val 6316"/>
            </a:avLst>
          </a:prstGeom>
          <a:solidFill>
            <a:schemeClr val="bg2"/>
          </a:solidFill>
          <a:ln/>
        </p:spPr>
      </p:sp>
      <p:sp>
        <p:nvSpPr>
          <p:cNvPr id="11" name="Shape 8"/>
          <p:cNvSpPr/>
          <p:nvPr/>
        </p:nvSpPr>
        <p:spPr>
          <a:xfrm>
            <a:off x="2971800" y="1920240"/>
            <a:ext cx="640080" cy="563270"/>
          </a:xfrm>
          <a:prstGeom prst="hexagon">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3138221" y="2048256"/>
            <a:ext cx="307238" cy="307238"/>
          </a:xfrm>
          <a:prstGeom prst="rect">
            <a:avLst/>
          </a:prstGeom>
        </p:spPr>
      </p:pic>
      <p:sp>
        <p:nvSpPr>
          <p:cNvPr id="13" name="Text 9"/>
          <p:cNvSpPr txBox="1"/>
          <p:nvPr/>
        </p:nvSpPr>
        <p:spPr>
          <a:xfrm>
            <a:off x="2532888" y="2560320"/>
            <a:ext cx="1517904" cy="457200"/>
          </a:xfrm>
          <a:prstGeom prst="rect">
            <a:avLst/>
          </a:prstGeom>
          <a:noFill/>
          <a:ln/>
        </p:spPr>
        <p:txBody>
          <a:bodyPr wrap="square" lIns="0" tIns="0" rIns="0" bIns="0" rtlCol="0" anchor="ctr"/>
          <a:lstStyle/>
          <a:p>
            <a:pPr algn="ctr" indent="0" marL="0">
              <a:lnSpc>
                <a:spcPct val="115000"/>
              </a:lnSpc>
              <a:buNone/>
            </a:pPr>
            <a:r>
              <a:rPr lang="en-US" sz="1400" b="1" dirty="0">
                <a:solidFill>
                  <a:schemeClr val="tx2"/>
                </a:solidFill>
              </a:rPr>
              <a:t>2. アセスメント</a:t>
            </a:r>
            <a:endParaRPr lang="en-US" sz="1400" dirty="0"/>
          </a:p>
        </p:txBody>
      </p:sp>
      <p:sp>
        <p:nvSpPr>
          <p:cNvPr id="14" name="Text 10"/>
          <p:cNvSpPr txBox="1"/>
          <p:nvPr/>
        </p:nvSpPr>
        <p:spPr>
          <a:xfrm>
            <a:off x="2560320" y="3017520"/>
            <a:ext cx="1463040" cy="1051560"/>
          </a:xfrm>
          <a:prstGeom prst="rect">
            <a:avLst/>
          </a:prstGeom>
          <a:noFill/>
          <a:ln/>
        </p:spPr>
        <p:txBody>
          <a:bodyPr wrap="square" lIns="0" tIns="0" rIns="0" bIns="0" rtlCol="0" anchor="t"/>
          <a:lstStyle/>
          <a:p>
            <a:pPr indent="0" marL="0">
              <a:lnSpc>
                <a:spcPct val="115000"/>
              </a:lnSpc>
              <a:buNone/>
            </a:pPr>
            <a:r>
              <a:rPr lang="en-US" sz="1250" dirty="0">
                <a:solidFill>
                  <a:schemeClr val="tx1"/>
                </a:solidFill>
              </a:rPr>
              <a:t>自宅を訪問し、心身の状態や暮らし、本人の思いを把握する</a:t>
            </a:r>
            <a:endParaRPr lang="en-US" sz="1250" dirty="0"/>
          </a:p>
        </p:txBody>
      </p:sp>
      <p:sp>
        <p:nvSpPr>
          <p:cNvPr id="15" name="Shape 11"/>
          <p:cNvSpPr/>
          <p:nvPr/>
        </p:nvSpPr>
        <p:spPr>
          <a:xfrm>
            <a:off x="4178808" y="2834640"/>
            <a:ext cx="109728" cy="219456"/>
          </a:xfrm>
          <a:prstGeom prst="chevron">
            <a:avLst/>
          </a:prstGeom>
          <a:solidFill>
            <a:schemeClr val="accent2"/>
          </a:solidFill>
          <a:ln/>
        </p:spPr>
      </p:sp>
      <p:sp>
        <p:nvSpPr>
          <p:cNvPr id="16" name="step 3"/>
          <p:cNvSpPr/>
          <p:nvPr/>
        </p:nvSpPr>
        <p:spPr>
          <a:xfrm>
            <a:off x="4297680" y="1783080"/>
            <a:ext cx="1737360" cy="2331720"/>
          </a:xfrm>
          <a:prstGeom prst="roundRect">
            <a:avLst>
              <a:gd name="adj" fmla="val 6316"/>
            </a:avLst>
          </a:prstGeom>
          <a:solidFill>
            <a:schemeClr val="bg2"/>
          </a:solidFill>
          <a:ln/>
        </p:spPr>
      </p:sp>
      <p:sp>
        <p:nvSpPr>
          <p:cNvPr id="17" name="Shape 13"/>
          <p:cNvSpPr/>
          <p:nvPr/>
        </p:nvSpPr>
        <p:spPr>
          <a:xfrm>
            <a:off x="4846320" y="1920240"/>
            <a:ext cx="640080" cy="563270"/>
          </a:xfrm>
          <a:prstGeom prst="hexagon">
            <a:avLst/>
          </a:prstGeom>
          <a:solidFill>
            <a:schemeClr val="accent1"/>
          </a:solidFill>
          <a:ln/>
        </p:spPr>
      </p:sp>
      <p:pic>
        <p:nvPicPr>
          <p:cNvPr id="18" name="Image 2" descr="preencoded.png">    </p:cNvPr>
          <p:cNvPicPr>
            <a:picLocks noChangeAspect="1"/>
          </p:cNvPicPr>
          <p:nvPr/>
        </p:nvPicPr>
        <p:blipFill>
          <a:blip r:embed="rId3"/>
          <a:stretch>
            <a:fillRect/>
          </a:stretch>
        </p:blipFill>
        <p:spPr>
          <a:xfrm>
            <a:off x="5012741" y="2048256"/>
            <a:ext cx="307238" cy="307238"/>
          </a:xfrm>
          <a:prstGeom prst="rect">
            <a:avLst/>
          </a:prstGeom>
        </p:spPr>
      </p:pic>
      <p:sp>
        <p:nvSpPr>
          <p:cNvPr id="19" name="Text 14"/>
          <p:cNvSpPr txBox="1"/>
          <p:nvPr/>
        </p:nvSpPr>
        <p:spPr>
          <a:xfrm>
            <a:off x="4407408" y="2560320"/>
            <a:ext cx="1517904" cy="457200"/>
          </a:xfrm>
          <a:prstGeom prst="rect">
            <a:avLst/>
          </a:prstGeom>
          <a:noFill/>
          <a:ln/>
        </p:spPr>
        <p:txBody>
          <a:bodyPr wrap="square" lIns="0" tIns="0" rIns="0" bIns="0" rtlCol="0" anchor="ctr"/>
          <a:lstStyle/>
          <a:p>
            <a:pPr algn="ctr" indent="0" marL="0">
              <a:lnSpc>
                <a:spcPct val="115000"/>
              </a:lnSpc>
              <a:buNone/>
            </a:pPr>
            <a:r>
              <a:rPr lang="en-US" sz="1400" b="1" dirty="0">
                <a:solidFill>
                  <a:schemeClr val="tx2"/>
                </a:solidFill>
              </a:rPr>
              <a:t>3. ケアプラン作成</a:t>
            </a:r>
            <a:endParaRPr lang="en-US" sz="1400" dirty="0"/>
          </a:p>
        </p:txBody>
      </p:sp>
      <p:sp>
        <p:nvSpPr>
          <p:cNvPr id="20" name="Text 15"/>
          <p:cNvSpPr txBox="1"/>
          <p:nvPr/>
        </p:nvSpPr>
        <p:spPr>
          <a:xfrm>
            <a:off x="4434840" y="3017520"/>
            <a:ext cx="1463040" cy="1051560"/>
          </a:xfrm>
          <a:prstGeom prst="rect">
            <a:avLst/>
          </a:prstGeom>
          <a:noFill/>
          <a:ln/>
        </p:spPr>
        <p:txBody>
          <a:bodyPr wrap="square" lIns="0" tIns="0" rIns="0" bIns="0" rtlCol="0" anchor="t"/>
          <a:lstStyle/>
          <a:p>
            <a:pPr indent="0" marL="0">
              <a:lnSpc>
                <a:spcPct val="115000"/>
              </a:lnSpc>
              <a:buNone/>
            </a:pPr>
            <a:r>
              <a:rPr lang="en-US" sz="1250" dirty="0">
                <a:solidFill>
                  <a:schemeClr val="tx1"/>
                </a:solidFill>
              </a:rPr>
              <a:t>望む暮らしを目標に、サービスの組み合わせを考える</a:t>
            </a:r>
            <a:endParaRPr lang="en-US" sz="1250" dirty="0"/>
          </a:p>
        </p:txBody>
      </p:sp>
      <p:sp>
        <p:nvSpPr>
          <p:cNvPr id="21" name="Shape 16"/>
          <p:cNvSpPr/>
          <p:nvPr/>
        </p:nvSpPr>
        <p:spPr>
          <a:xfrm>
            <a:off x="6053328" y="2834640"/>
            <a:ext cx="109728" cy="219456"/>
          </a:xfrm>
          <a:prstGeom prst="chevron">
            <a:avLst/>
          </a:prstGeom>
          <a:solidFill>
            <a:schemeClr val="accent2"/>
          </a:solidFill>
          <a:ln/>
        </p:spPr>
      </p:sp>
      <p:sp>
        <p:nvSpPr>
          <p:cNvPr id="22" name="step 4"/>
          <p:cNvSpPr/>
          <p:nvPr/>
        </p:nvSpPr>
        <p:spPr>
          <a:xfrm>
            <a:off x="6172200" y="1783080"/>
            <a:ext cx="1737360" cy="2331720"/>
          </a:xfrm>
          <a:prstGeom prst="roundRect">
            <a:avLst>
              <a:gd name="adj" fmla="val 6316"/>
            </a:avLst>
          </a:prstGeom>
          <a:solidFill>
            <a:schemeClr val="bg2"/>
          </a:solidFill>
          <a:ln/>
        </p:spPr>
      </p:sp>
      <p:sp>
        <p:nvSpPr>
          <p:cNvPr id="23" name="Shape 18"/>
          <p:cNvSpPr/>
          <p:nvPr/>
        </p:nvSpPr>
        <p:spPr>
          <a:xfrm>
            <a:off x="6720840" y="1920240"/>
            <a:ext cx="640080" cy="563270"/>
          </a:xfrm>
          <a:prstGeom prst="hexagon">
            <a:avLst/>
          </a:prstGeom>
          <a:solidFill>
            <a:schemeClr val="accent1"/>
          </a:solidFill>
          <a:ln/>
        </p:spPr>
      </p:sp>
      <p:pic>
        <p:nvPicPr>
          <p:cNvPr id="24" name="Image 3" descr="preencoded.png">    </p:cNvPr>
          <p:cNvPicPr>
            <a:picLocks noChangeAspect="1"/>
          </p:cNvPicPr>
          <p:nvPr/>
        </p:nvPicPr>
        <p:blipFill>
          <a:blip r:embed="rId4"/>
          <a:stretch>
            <a:fillRect/>
          </a:stretch>
        </p:blipFill>
        <p:spPr>
          <a:xfrm>
            <a:off x="6887261" y="2048256"/>
            <a:ext cx="307238" cy="307238"/>
          </a:xfrm>
          <a:prstGeom prst="rect">
            <a:avLst/>
          </a:prstGeom>
        </p:spPr>
      </p:pic>
      <p:sp>
        <p:nvSpPr>
          <p:cNvPr id="25" name="Text 19"/>
          <p:cNvSpPr txBox="1"/>
          <p:nvPr/>
        </p:nvSpPr>
        <p:spPr>
          <a:xfrm>
            <a:off x="6281928" y="2560320"/>
            <a:ext cx="1517904" cy="457200"/>
          </a:xfrm>
          <a:prstGeom prst="rect">
            <a:avLst/>
          </a:prstGeom>
          <a:noFill/>
          <a:ln/>
        </p:spPr>
        <p:txBody>
          <a:bodyPr wrap="square" lIns="0" tIns="0" rIns="0" bIns="0" rtlCol="0" anchor="ctr"/>
          <a:lstStyle/>
          <a:p>
            <a:pPr algn="ctr" indent="0" marL="0">
              <a:lnSpc>
                <a:spcPct val="115000"/>
              </a:lnSpc>
              <a:buNone/>
            </a:pPr>
            <a:r>
              <a:rPr lang="en-US" sz="1400" b="1" dirty="0">
                <a:solidFill>
                  <a:schemeClr val="tx2"/>
                </a:solidFill>
              </a:rPr>
              <a:t>4. 担当者会議</a:t>
            </a:r>
            <a:endParaRPr lang="en-US" sz="1400" dirty="0"/>
          </a:p>
        </p:txBody>
      </p:sp>
      <p:sp>
        <p:nvSpPr>
          <p:cNvPr id="26" name="Text 20"/>
          <p:cNvSpPr txBox="1"/>
          <p:nvPr/>
        </p:nvSpPr>
        <p:spPr>
          <a:xfrm>
            <a:off x="6309360" y="3017520"/>
            <a:ext cx="1463040" cy="1051560"/>
          </a:xfrm>
          <a:prstGeom prst="rect">
            <a:avLst/>
          </a:prstGeom>
          <a:noFill/>
          <a:ln/>
        </p:spPr>
        <p:txBody>
          <a:bodyPr wrap="square" lIns="0" tIns="0" rIns="0" bIns="0" rtlCol="0" anchor="t"/>
          <a:lstStyle/>
          <a:p>
            <a:pPr indent="0" marL="0">
              <a:lnSpc>
                <a:spcPct val="115000"/>
              </a:lnSpc>
              <a:buNone/>
            </a:pPr>
            <a:r>
              <a:rPr lang="en-US" sz="1250" dirty="0">
                <a:solidFill>
                  <a:schemeClr val="tx1"/>
                </a:solidFill>
              </a:rPr>
              <a:t>本人・家族・事業者と話し合い、サービスを調整する</a:t>
            </a:r>
            <a:endParaRPr lang="en-US" sz="1250" dirty="0"/>
          </a:p>
        </p:txBody>
      </p:sp>
      <p:sp>
        <p:nvSpPr>
          <p:cNvPr id="27" name="Shape 21"/>
          <p:cNvSpPr/>
          <p:nvPr/>
        </p:nvSpPr>
        <p:spPr>
          <a:xfrm>
            <a:off x="7927848" y="2834640"/>
            <a:ext cx="109728" cy="219456"/>
          </a:xfrm>
          <a:prstGeom prst="chevron">
            <a:avLst/>
          </a:prstGeom>
          <a:solidFill>
            <a:schemeClr val="accent2"/>
          </a:solidFill>
          <a:ln/>
        </p:spPr>
      </p:sp>
      <p:sp>
        <p:nvSpPr>
          <p:cNvPr id="28" name="step 5"/>
          <p:cNvSpPr/>
          <p:nvPr/>
        </p:nvSpPr>
        <p:spPr>
          <a:xfrm>
            <a:off x="8046720" y="1783080"/>
            <a:ext cx="1737360" cy="2331720"/>
          </a:xfrm>
          <a:prstGeom prst="roundRect">
            <a:avLst>
              <a:gd name="adj" fmla="val 6316"/>
            </a:avLst>
          </a:prstGeom>
          <a:solidFill>
            <a:schemeClr val="bg2"/>
          </a:solidFill>
          <a:ln/>
        </p:spPr>
      </p:sp>
      <p:sp>
        <p:nvSpPr>
          <p:cNvPr id="29" name="Shape 23"/>
          <p:cNvSpPr/>
          <p:nvPr/>
        </p:nvSpPr>
        <p:spPr>
          <a:xfrm>
            <a:off x="8595360" y="1920240"/>
            <a:ext cx="640080" cy="563270"/>
          </a:xfrm>
          <a:prstGeom prst="hexagon">
            <a:avLst/>
          </a:prstGeom>
          <a:solidFill>
            <a:schemeClr val="accent1"/>
          </a:solidFill>
          <a:ln/>
        </p:spPr>
      </p:sp>
      <p:pic>
        <p:nvPicPr>
          <p:cNvPr id="30" name="Image 4" descr="preencoded.png">    </p:cNvPr>
          <p:cNvPicPr>
            <a:picLocks noChangeAspect="1"/>
          </p:cNvPicPr>
          <p:nvPr/>
        </p:nvPicPr>
        <p:blipFill>
          <a:blip r:embed="rId5"/>
          <a:stretch>
            <a:fillRect/>
          </a:stretch>
        </p:blipFill>
        <p:spPr>
          <a:xfrm>
            <a:off x="8761781" y="2048256"/>
            <a:ext cx="307238" cy="307238"/>
          </a:xfrm>
          <a:prstGeom prst="rect">
            <a:avLst/>
          </a:prstGeom>
        </p:spPr>
      </p:pic>
      <p:sp>
        <p:nvSpPr>
          <p:cNvPr id="31" name="Text 24"/>
          <p:cNvSpPr txBox="1"/>
          <p:nvPr/>
        </p:nvSpPr>
        <p:spPr>
          <a:xfrm>
            <a:off x="8156448" y="2560320"/>
            <a:ext cx="1517904" cy="457200"/>
          </a:xfrm>
          <a:prstGeom prst="rect">
            <a:avLst/>
          </a:prstGeom>
          <a:noFill/>
          <a:ln/>
        </p:spPr>
        <p:txBody>
          <a:bodyPr wrap="square" lIns="0" tIns="0" rIns="0" bIns="0" rtlCol="0" anchor="ctr"/>
          <a:lstStyle/>
          <a:p>
            <a:pPr algn="ctr" indent="0" marL="0">
              <a:lnSpc>
                <a:spcPct val="115000"/>
              </a:lnSpc>
              <a:buNone/>
            </a:pPr>
            <a:r>
              <a:rPr lang="en-US" sz="1400" b="1" dirty="0">
                <a:solidFill>
                  <a:schemeClr val="tx2"/>
                </a:solidFill>
              </a:rPr>
              <a:t>5. モニタリング</a:t>
            </a:r>
            <a:endParaRPr lang="en-US" sz="1400" dirty="0"/>
          </a:p>
        </p:txBody>
      </p:sp>
      <p:sp>
        <p:nvSpPr>
          <p:cNvPr id="32" name="Text 25"/>
          <p:cNvSpPr txBox="1"/>
          <p:nvPr/>
        </p:nvSpPr>
        <p:spPr>
          <a:xfrm>
            <a:off x="8183880" y="3017520"/>
            <a:ext cx="1463040" cy="1051560"/>
          </a:xfrm>
          <a:prstGeom prst="rect">
            <a:avLst/>
          </a:prstGeom>
          <a:noFill/>
          <a:ln/>
        </p:spPr>
        <p:txBody>
          <a:bodyPr wrap="square" lIns="0" tIns="0" rIns="0" bIns="0" rtlCol="0" anchor="t"/>
          <a:lstStyle/>
          <a:p>
            <a:pPr indent="0" marL="0">
              <a:lnSpc>
                <a:spcPct val="115000"/>
              </a:lnSpc>
              <a:buNone/>
            </a:pPr>
            <a:r>
              <a:rPr lang="en-US" sz="1250" dirty="0">
                <a:solidFill>
                  <a:schemeClr val="tx1"/>
                </a:solidFill>
              </a:rPr>
              <a:t>定期的に訪問し、サービスの状況や変化を確かめる</a:t>
            </a:r>
            <a:endParaRPr lang="en-US" sz="1250" dirty="0"/>
          </a:p>
        </p:txBody>
      </p:sp>
      <p:sp>
        <p:nvSpPr>
          <p:cNvPr id="33" name="Shape 26"/>
          <p:cNvSpPr/>
          <p:nvPr/>
        </p:nvSpPr>
        <p:spPr>
          <a:xfrm>
            <a:off x="9802368" y="2834640"/>
            <a:ext cx="109728" cy="219456"/>
          </a:xfrm>
          <a:prstGeom prst="chevron">
            <a:avLst/>
          </a:prstGeom>
          <a:solidFill>
            <a:schemeClr val="accent2"/>
          </a:solidFill>
          <a:ln/>
        </p:spPr>
      </p:sp>
      <p:sp>
        <p:nvSpPr>
          <p:cNvPr id="34" name="step 6"/>
          <p:cNvSpPr/>
          <p:nvPr/>
        </p:nvSpPr>
        <p:spPr>
          <a:xfrm>
            <a:off x="9921240" y="1783080"/>
            <a:ext cx="1737360" cy="2331720"/>
          </a:xfrm>
          <a:prstGeom prst="roundRect">
            <a:avLst>
              <a:gd name="adj" fmla="val 6316"/>
            </a:avLst>
          </a:prstGeom>
          <a:solidFill>
            <a:schemeClr val="bg2"/>
          </a:solidFill>
          <a:ln/>
        </p:spPr>
      </p:sp>
      <p:sp>
        <p:nvSpPr>
          <p:cNvPr id="35" name="Shape 28"/>
          <p:cNvSpPr/>
          <p:nvPr/>
        </p:nvSpPr>
        <p:spPr>
          <a:xfrm>
            <a:off x="10469880" y="1920240"/>
            <a:ext cx="640080" cy="563270"/>
          </a:xfrm>
          <a:prstGeom prst="hexagon">
            <a:avLst/>
          </a:prstGeom>
          <a:solidFill>
            <a:schemeClr val="accent1"/>
          </a:solidFill>
          <a:ln/>
        </p:spPr>
      </p:sp>
      <p:pic>
        <p:nvPicPr>
          <p:cNvPr id="36" name="Image 5" descr="preencoded.png">    </p:cNvPr>
          <p:cNvPicPr>
            <a:picLocks noChangeAspect="1"/>
          </p:cNvPicPr>
          <p:nvPr/>
        </p:nvPicPr>
        <p:blipFill>
          <a:blip r:embed="rId6"/>
          <a:stretch>
            <a:fillRect/>
          </a:stretch>
        </p:blipFill>
        <p:spPr>
          <a:xfrm>
            <a:off x="10636301" y="2048256"/>
            <a:ext cx="307238" cy="307238"/>
          </a:xfrm>
          <a:prstGeom prst="rect">
            <a:avLst/>
          </a:prstGeom>
        </p:spPr>
      </p:pic>
      <p:sp>
        <p:nvSpPr>
          <p:cNvPr id="37" name="Text 29"/>
          <p:cNvSpPr txBox="1"/>
          <p:nvPr/>
        </p:nvSpPr>
        <p:spPr>
          <a:xfrm>
            <a:off x="10030968" y="2560320"/>
            <a:ext cx="1517904" cy="457200"/>
          </a:xfrm>
          <a:prstGeom prst="rect">
            <a:avLst/>
          </a:prstGeom>
          <a:noFill/>
          <a:ln/>
        </p:spPr>
        <p:txBody>
          <a:bodyPr wrap="square" lIns="0" tIns="0" rIns="0" bIns="0" rtlCol="0" anchor="ctr"/>
          <a:lstStyle/>
          <a:p>
            <a:pPr algn="ctr" indent="0" marL="0">
              <a:lnSpc>
                <a:spcPct val="115000"/>
              </a:lnSpc>
              <a:buNone/>
            </a:pPr>
            <a:r>
              <a:rPr lang="en-US" sz="1400" b="1" dirty="0">
                <a:solidFill>
                  <a:schemeClr val="tx2"/>
                </a:solidFill>
              </a:rPr>
              <a:t>6. 見直し</a:t>
            </a:r>
            <a:endParaRPr lang="en-US" sz="1400" dirty="0"/>
          </a:p>
        </p:txBody>
      </p:sp>
      <p:sp>
        <p:nvSpPr>
          <p:cNvPr id="38" name="Text 30"/>
          <p:cNvSpPr txBox="1"/>
          <p:nvPr/>
        </p:nvSpPr>
        <p:spPr>
          <a:xfrm>
            <a:off x="10058400" y="3017520"/>
            <a:ext cx="1463040" cy="1051560"/>
          </a:xfrm>
          <a:prstGeom prst="rect">
            <a:avLst/>
          </a:prstGeom>
          <a:noFill/>
          <a:ln/>
        </p:spPr>
        <p:txBody>
          <a:bodyPr wrap="square" lIns="0" tIns="0" rIns="0" bIns="0" rtlCol="0" anchor="t"/>
          <a:lstStyle/>
          <a:p>
            <a:pPr indent="0" marL="0">
              <a:lnSpc>
                <a:spcPct val="115000"/>
              </a:lnSpc>
              <a:buNone/>
            </a:pPr>
            <a:r>
              <a:rPr lang="en-US" sz="1250" dirty="0">
                <a:solidFill>
                  <a:schemeClr val="tx1"/>
                </a:solidFill>
              </a:rPr>
              <a:t>状態や希望の変化に合わせて、プランを見直す</a:t>
            </a:r>
            <a:endParaRPr lang="en-US" sz="1250" dirty="0"/>
          </a:p>
        </p:txBody>
      </p:sp>
      <p:sp>
        <p:nvSpPr>
          <p:cNvPr id="39" name="Text 31"/>
          <p:cNvSpPr txBox="1"/>
          <p:nvPr/>
        </p:nvSpPr>
        <p:spPr>
          <a:xfrm>
            <a:off x="548640" y="4206240"/>
            <a:ext cx="11064240" cy="320040"/>
          </a:xfrm>
          <a:prstGeom prst="rect">
            <a:avLst/>
          </a:prstGeom>
          <a:noFill/>
          <a:ln/>
        </p:spPr>
        <p:txBody>
          <a:bodyPr wrap="square" lIns="0" tIns="0" rIns="0" bIns="0" rtlCol="0" anchor="t"/>
          <a:lstStyle/>
          <a:p>
            <a:pPr indent="0" marL="0">
              <a:lnSpc>
                <a:spcPct val="115000"/>
              </a:lnSpc>
              <a:buNone/>
            </a:pPr>
            <a:r>
              <a:rPr lang="en-US" sz="1300" dirty="0">
                <a:solidFill>
                  <a:schemeClr val="accent5"/>
                </a:solidFill>
              </a:rPr>
              <a:t>⑥ の後は ② へ戻り、本人の暮らしに合わせて支援を続けていきます。</a:t>
            </a:r>
            <a:endParaRPr lang="en-US" sz="1300" dirty="0"/>
          </a:p>
        </p:txBody>
      </p:sp>
      <p:sp>
        <p:nvSpPr>
          <p:cNvPr id="40" name="related work"/>
          <p:cNvSpPr/>
          <p:nvPr/>
        </p:nvSpPr>
        <p:spPr>
          <a:xfrm>
            <a:off x="548640" y="4663440"/>
            <a:ext cx="5440680" cy="1417320"/>
          </a:xfrm>
          <a:prstGeom prst="roundRect">
            <a:avLst>
              <a:gd name="adj" fmla="val 7742"/>
            </a:avLst>
          </a:prstGeom>
          <a:solidFill>
            <a:srgbClr val="FFFFFF"/>
          </a:solidFill>
          <a:ln/>
        </p:spPr>
      </p:sp>
      <p:sp>
        <p:nvSpPr>
          <p:cNvPr id="41" name="Shape 33"/>
          <p:cNvSpPr/>
          <p:nvPr/>
        </p:nvSpPr>
        <p:spPr>
          <a:xfrm>
            <a:off x="548640" y="4663440"/>
            <a:ext cx="5440680" cy="1417320"/>
          </a:xfrm>
          <a:prstGeom prst="roundRect">
            <a:avLst>
              <a:gd name="adj" fmla="val 7742"/>
            </a:avLst>
          </a:prstGeom>
          <a:ln w="15875">
            <a:solidFill>
              <a:schemeClr val="accent4"/>
            </a:solidFill>
            <a:prstDash val="solid"/>
          </a:ln>
        </p:spPr>
      </p:sp>
      <p:sp>
        <p:nvSpPr>
          <p:cNvPr id="42" name="Text 34"/>
          <p:cNvSpPr txBox="1"/>
          <p:nvPr/>
        </p:nvSpPr>
        <p:spPr>
          <a:xfrm>
            <a:off x="777240" y="4773168"/>
            <a:ext cx="5029200" cy="320040"/>
          </a:xfrm>
          <a:prstGeom prst="rect">
            <a:avLst/>
          </a:prstGeom>
          <a:noFill/>
          <a:ln/>
        </p:spPr>
        <p:txBody>
          <a:bodyPr wrap="square" lIns="0" tIns="0" rIns="0" bIns="0" rtlCol="0" anchor="t"/>
          <a:lstStyle/>
          <a:p>
            <a:pPr indent="0" marL="0">
              <a:lnSpc>
                <a:spcPct val="115000"/>
              </a:lnSpc>
              <a:buNone/>
            </a:pPr>
            <a:r>
              <a:rPr lang="en-US" sz="1400" b="1" dirty="0">
                <a:solidFill>
                  <a:schemeClr val="accent1"/>
                </a:solidFill>
              </a:rPr>
              <a:t>あわせて行う業務の例</a:t>
            </a:r>
            <a:endParaRPr lang="en-US" sz="1400" dirty="0"/>
          </a:p>
        </p:txBody>
      </p:sp>
      <p:sp>
        <p:nvSpPr>
          <p:cNvPr id="43" name="Text 35"/>
          <p:cNvSpPr txBox="1"/>
          <p:nvPr/>
        </p:nvSpPr>
        <p:spPr>
          <a:xfrm>
            <a:off x="777240" y="5120640"/>
            <a:ext cx="5029200" cy="868680"/>
          </a:xfrm>
          <a:prstGeom prst="rect">
            <a:avLst/>
          </a:prstGeom>
          <a:noFill/>
          <a:ln/>
        </p:spPr>
        <p:txBody>
          <a:bodyPr wrap="square" lIns="0" tIns="0" rIns="0" bIns="0" rtlCol="0" anchor="t"/>
          <a:lstStyle/>
          <a:p>
            <a:pPr indent="0" marL="0">
              <a:lnSpc>
                <a:spcPct val="115000"/>
              </a:lnSpc>
              <a:buNone/>
            </a:pPr>
            <a:r>
              <a:rPr lang="en-US" sz="1350" dirty="0">
                <a:solidFill>
                  <a:schemeClr val="tx1"/>
                </a:solidFill>
              </a:rPr>
              <a:t>給付管理（毎月の実績確認など）、記録・書類作成、入退院時の医療機関との連携、地域包括支援センターなど関係機関との連携</a:t>
            </a:r>
            <a:endParaRPr lang="en-US" sz="1350" dirty="0"/>
          </a:p>
        </p:txBody>
      </p:sp>
      <p:sp>
        <p:nvSpPr>
          <p:cNvPr id="44" name="scope check"/>
          <p:cNvSpPr/>
          <p:nvPr/>
        </p:nvSpPr>
        <p:spPr>
          <a:xfrm>
            <a:off x="6217920" y="4663440"/>
            <a:ext cx="5440680" cy="1417320"/>
          </a:xfrm>
          <a:prstGeom prst="roundRect">
            <a:avLst>
              <a:gd name="adj" fmla="val 7742"/>
            </a:avLst>
          </a:prstGeom>
          <a:solidFill>
            <a:schemeClr val="bg2"/>
          </a:solidFill>
          <a:ln/>
        </p:spPr>
      </p:sp>
      <p:sp>
        <p:nvSpPr>
          <p:cNvPr id="45" name="Text 37"/>
          <p:cNvSpPr txBox="1"/>
          <p:nvPr/>
        </p:nvSpPr>
        <p:spPr>
          <a:xfrm>
            <a:off x="6446520" y="4773168"/>
            <a:ext cx="5029200" cy="320040"/>
          </a:xfrm>
          <a:prstGeom prst="rect">
            <a:avLst/>
          </a:prstGeom>
          <a:noFill/>
          <a:ln/>
        </p:spPr>
        <p:txBody>
          <a:bodyPr wrap="square" lIns="0" tIns="0" rIns="0" bIns="0" rtlCol="0" anchor="t"/>
          <a:lstStyle/>
          <a:p>
            <a:pPr indent="0" marL="0">
              <a:lnSpc>
                <a:spcPct val="115000"/>
              </a:lnSpc>
              <a:buNone/>
            </a:pPr>
            <a:r>
              <a:rPr lang="en-US" sz="1400" b="1" dirty="0">
                <a:solidFill>
                  <a:schemeClr val="tx2"/>
                </a:solidFill>
              </a:rPr>
              <a:t>実際の担当範囲</a:t>
            </a:r>
            <a:pPr indent="0" marL="0">
              <a:lnSpc>
                <a:spcPct val="115000"/>
              </a:lnSpc>
              <a:buNone/>
            </a:pPr>
            <a:r>
              <a:rPr lang="en-US" sz="1400" b="1" dirty="0">
                <a:solidFill>
                  <a:schemeClr val="accent6"/>
                </a:solidFill>
              </a:rPr>
              <a:t>［要確認］</a:t>
            </a:r>
            <a:endParaRPr lang="en-US" sz="1400" dirty="0"/>
          </a:p>
        </p:txBody>
      </p:sp>
      <p:sp>
        <p:nvSpPr>
          <p:cNvPr id="46" name="Text 38"/>
          <p:cNvSpPr txBox="1"/>
          <p:nvPr/>
        </p:nvSpPr>
        <p:spPr>
          <a:xfrm>
            <a:off x="6446520" y="5120640"/>
            <a:ext cx="5029200" cy="868680"/>
          </a:xfrm>
          <a:prstGeom prst="rect">
            <a:avLst/>
          </a:prstGeom>
          <a:noFill/>
          <a:ln/>
        </p:spPr>
        <p:txBody>
          <a:bodyPr wrap="square" lIns="0" tIns="0" rIns="0" bIns="0" rtlCol="0" anchor="t"/>
          <a:lstStyle/>
          <a:p>
            <a:pPr indent="0" marL="0">
              <a:lnSpc>
                <a:spcPct val="115000"/>
              </a:lnSpc>
              <a:buNone/>
            </a:pPr>
            <a:r>
              <a:rPr lang="en-US" sz="1350" dirty="0">
                <a:solidFill>
                  <a:schemeClr val="tx1"/>
                </a:solidFill>
              </a:rPr>
              <a:t>担当件数の目安、担当エリア、給付管理・請求業務の分担、訪問や記録の進め方は、面談で最新の内容をご説明します。</a:t>
            </a:r>
            <a:endParaRPr lang="en-US" sz="1350" dirty="0"/>
          </a:p>
        </p:txBody>
      </p:sp>
      <p:sp>
        <p:nvSpPr>
          <p:cNvPr id="25" name="Slide Number Placeholder 0"/>
          <p:cNvSpPr>
            <a:spLocks noGrp="1"/>
          </p:cNvSpPr>
          <p:nvPr>
            <p:ph type="sldNum" sz="quarter" idx="4294967295"/>
          </p:nvPr>
        </p:nvSpPr>
        <p:spPr>
          <a:xfrm>
            <a:off x="548640" y="635508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1"/>
                </a:solidFill>
              </a:defRPr>
            </a:lvl1pPr>
          </a:lstStyle>
          <a:p>
            <a:pPr algn="l"/>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一人で抱え込まないためのサポート</a:t>
            </a:r>
            <a:endParaRPr lang="en-US" sz="3000" dirty="0"/>
          </a:p>
        </p:txBody>
      </p:sp>
      <p:sp>
        <p:nvSpPr>
          <p:cNvPr id="3" name="Text 1"/>
          <p:cNvSpPr txBox="1"/>
          <p:nvPr/>
        </p:nvSpPr>
        <p:spPr>
          <a:xfrm>
            <a:off x="548640" y="1234440"/>
            <a:ext cx="11064240" cy="411480"/>
          </a:xfrm>
          <a:prstGeom prst="rect">
            <a:avLst/>
          </a:prstGeom>
          <a:noFill/>
          <a:ln/>
        </p:spPr>
        <p:txBody>
          <a:bodyPr wrap="square" lIns="0" tIns="0" rIns="0" bIns="0" rtlCol="0" anchor="t"/>
          <a:lstStyle/>
          <a:p>
            <a:pPr indent="0" marL="0">
              <a:lnSpc>
                <a:spcPct val="115000"/>
              </a:lnSpc>
              <a:buNone/>
            </a:pPr>
            <a:r>
              <a:rPr lang="en-US" sz="1800" b="1" dirty="0">
                <a:solidFill>
                  <a:schemeClr val="accent1"/>
                </a:solidFill>
              </a:rPr>
              <a:t>判断に迷うとき、困ったときに、一人で抱え込まないことを大切にしています。</a:t>
            </a:r>
            <a:endParaRPr lang="en-US" sz="1800" dirty="0"/>
          </a:p>
        </p:txBody>
      </p:sp>
      <p:sp>
        <p:nvSpPr>
          <p:cNvPr id="4" name="Shape 2"/>
          <p:cNvSpPr/>
          <p:nvPr/>
        </p:nvSpPr>
        <p:spPr>
          <a:xfrm>
            <a:off x="2880360" y="2377440"/>
            <a:ext cx="914" cy="1417320"/>
          </a:xfrm>
          <a:prstGeom prst="line">
            <a:avLst/>
          </a:prstGeom>
          <a:noFill/>
          <a:ln w="25400">
            <a:solidFill>
              <a:schemeClr val="accent2"/>
            </a:solidFill>
            <a:prstDash val="solid"/>
          </a:ln>
        </p:spPr>
      </p:sp>
      <p:sp>
        <p:nvSpPr>
          <p:cNvPr id="5" name="Shape 3"/>
          <p:cNvSpPr/>
          <p:nvPr/>
        </p:nvSpPr>
        <p:spPr>
          <a:xfrm flipH="1">
            <a:off x="1652925" y="3794760"/>
            <a:ext cx="1227435" cy="708660"/>
          </a:xfrm>
          <a:prstGeom prst="line">
            <a:avLst/>
          </a:prstGeom>
          <a:noFill/>
          <a:ln w="25400">
            <a:solidFill>
              <a:schemeClr val="accent2"/>
            </a:solidFill>
            <a:prstDash val="solid"/>
          </a:ln>
        </p:spPr>
      </p:sp>
      <p:sp>
        <p:nvSpPr>
          <p:cNvPr id="6" name="Shape 4"/>
          <p:cNvSpPr/>
          <p:nvPr/>
        </p:nvSpPr>
        <p:spPr>
          <a:xfrm>
            <a:off x="2880360" y="3794760"/>
            <a:ext cx="1227435" cy="708660"/>
          </a:xfrm>
          <a:prstGeom prst="line">
            <a:avLst/>
          </a:prstGeom>
          <a:noFill/>
          <a:ln w="25400">
            <a:solidFill>
              <a:schemeClr val="accent2"/>
            </a:solidFill>
            <a:prstDash val="solid"/>
          </a:ln>
        </p:spPr>
      </p:sp>
      <p:sp>
        <p:nvSpPr>
          <p:cNvPr id="7" name="support hex 1"/>
          <p:cNvSpPr/>
          <p:nvPr/>
        </p:nvSpPr>
        <p:spPr>
          <a:xfrm>
            <a:off x="2080260" y="1673352"/>
            <a:ext cx="1600200" cy="1408176"/>
          </a:xfrm>
          <a:prstGeom prst="hexagon">
            <a:avLst/>
          </a:prstGeom>
          <a:solidFill>
            <a:schemeClr val="accent3"/>
          </a:solidFill>
          <a:ln/>
        </p:spPr>
      </p:sp>
      <p:sp>
        <p:nvSpPr>
          <p:cNvPr id="8" name="Text 6"/>
          <p:cNvSpPr txBox="1"/>
          <p:nvPr/>
        </p:nvSpPr>
        <p:spPr>
          <a:xfrm>
            <a:off x="2080260" y="1673352"/>
            <a:ext cx="1600200" cy="1408176"/>
          </a:xfrm>
          <a:prstGeom prst="rect">
            <a:avLst/>
          </a:prstGeom>
          <a:noFill/>
          <a:ln/>
        </p:spPr>
        <p:txBody>
          <a:bodyPr wrap="square" lIns="0" tIns="0" rIns="0" bIns="0" rtlCol="0" anchor="ctr"/>
          <a:lstStyle/>
          <a:p>
            <a:pPr algn="ctr" indent="0" marL="0">
              <a:buNone/>
            </a:pPr>
            <a:r>
              <a:rPr lang="en-US" sz="1300" b="1" dirty="0">
                <a:solidFill>
                  <a:schemeClr val="tx2"/>
                </a:solidFill>
              </a:rPr>
              <a:t>経験豊富な</a:t>
            </a:r>
            <a:endParaRPr lang="en-US" sz="1300" dirty="0"/>
          </a:p>
          <a:p>
            <a:pPr algn="ctr" indent="0" marL="0">
              <a:buNone/>
            </a:pPr>
            <a:r>
              <a:rPr lang="en-US" sz="1300" b="1" dirty="0">
                <a:solidFill>
                  <a:schemeClr val="tx2"/>
                </a:solidFill>
              </a:rPr>
              <a:t>ケアマネジャー</a:t>
            </a:r>
            <a:endParaRPr lang="en-US" sz="1300" dirty="0"/>
          </a:p>
        </p:txBody>
      </p:sp>
      <p:sp>
        <p:nvSpPr>
          <p:cNvPr id="9" name="support hex 2"/>
          <p:cNvSpPr/>
          <p:nvPr/>
        </p:nvSpPr>
        <p:spPr>
          <a:xfrm>
            <a:off x="852825" y="3799332"/>
            <a:ext cx="1600200" cy="1408176"/>
          </a:xfrm>
          <a:prstGeom prst="hexagon">
            <a:avLst/>
          </a:prstGeom>
          <a:solidFill>
            <a:schemeClr val="accent4"/>
          </a:solidFill>
          <a:ln/>
        </p:spPr>
      </p:sp>
      <p:sp>
        <p:nvSpPr>
          <p:cNvPr id="10" name="Text 8"/>
          <p:cNvSpPr txBox="1"/>
          <p:nvPr/>
        </p:nvSpPr>
        <p:spPr>
          <a:xfrm>
            <a:off x="852825" y="3799332"/>
            <a:ext cx="1600200" cy="1408176"/>
          </a:xfrm>
          <a:prstGeom prst="rect">
            <a:avLst/>
          </a:prstGeom>
          <a:noFill/>
          <a:ln/>
        </p:spPr>
        <p:txBody>
          <a:bodyPr wrap="square" lIns="0" tIns="0" rIns="0" bIns="0" rtlCol="0" anchor="ctr"/>
          <a:lstStyle/>
          <a:p>
            <a:pPr algn="ctr" indent="0" marL="0">
              <a:buNone/>
            </a:pPr>
            <a:r>
              <a:rPr lang="en-US" sz="1300" b="1" dirty="0">
                <a:solidFill>
                  <a:schemeClr val="tx2"/>
                </a:solidFill>
              </a:rPr>
              <a:t>事業所の</a:t>
            </a:r>
            <a:endParaRPr lang="en-US" sz="1300" dirty="0"/>
          </a:p>
          <a:p>
            <a:pPr algn="ctr" indent="0" marL="0">
              <a:buNone/>
            </a:pPr>
            <a:r>
              <a:rPr lang="en-US" sz="1300" b="1" dirty="0">
                <a:solidFill>
                  <a:schemeClr val="tx2"/>
                </a:solidFill>
              </a:rPr>
              <a:t>仲間</a:t>
            </a:r>
            <a:endParaRPr lang="en-US" sz="1300" dirty="0"/>
          </a:p>
        </p:txBody>
      </p:sp>
      <p:sp>
        <p:nvSpPr>
          <p:cNvPr id="11" name="support hex 3"/>
          <p:cNvSpPr/>
          <p:nvPr/>
        </p:nvSpPr>
        <p:spPr>
          <a:xfrm>
            <a:off x="3307695" y="3799332"/>
            <a:ext cx="1600200" cy="1408176"/>
          </a:xfrm>
          <a:prstGeom prst="hexagon">
            <a:avLst/>
          </a:prstGeom>
          <a:solidFill>
            <a:schemeClr val="accent4"/>
          </a:solidFill>
          <a:ln/>
        </p:spPr>
      </p:sp>
      <p:sp>
        <p:nvSpPr>
          <p:cNvPr id="12" name="Text 10"/>
          <p:cNvSpPr txBox="1"/>
          <p:nvPr/>
        </p:nvSpPr>
        <p:spPr>
          <a:xfrm>
            <a:off x="3307695" y="3799332"/>
            <a:ext cx="1600200" cy="1408176"/>
          </a:xfrm>
          <a:prstGeom prst="rect">
            <a:avLst/>
          </a:prstGeom>
          <a:noFill/>
          <a:ln/>
        </p:spPr>
        <p:txBody>
          <a:bodyPr wrap="square" lIns="0" tIns="0" rIns="0" bIns="0" rtlCol="0" anchor="ctr"/>
          <a:lstStyle/>
          <a:p>
            <a:pPr algn="ctr" indent="0" marL="0">
              <a:buNone/>
            </a:pPr>
            <a:r>
              <a:rPr lang="en-US" sz="1300" b="1" dirty="0">
                <a:solidFill>
                  <a:schemeClr val="tx2"/>
                </a:solidFill>
              </a:rPr>
              <a:t>法人内の</a:t>
            </a:r>
            <a:endParaRPr lang="en-US" sz="1300" dirty="0"/>
          </a:p>
          <a:p>
            <a:pPr algn="ctr" indent="0" marL="0">
              <a:buNone/>
            </a:pPr>
            <a:r>
              <a:rPr lang="en-US" sz="1300" b="1" dirty="0">
                <a:solidFill>
                  <a:schemeClr val="tx2"/>
                </a:solidFill>
              </a:rPr>
              <a:t>訪問看護・</a:t>
            </a:r>
            <a:endParaRPr lang="en-US" sz="1300" dirty="0"/>
          </a:p>
          <a:p>
            <a:pPr algn="ctr" indent="0" marL="0">
              <a:buNone/>
            </a:pPr>
            <a:r>
              <a:rPr lang="en-US" sz="1300" b="1" dirty="0">
                <a:solidFill>
                  <a:schemeClr val="tx2"/>
                </a:solidFill>
              </a:rPr>
              <a:t>リハビリ職</a:t>
            </a:r>
            <a:endParaRPr lang="en-US" sz="1300" dirty="0"/>
          </a:p>
        </p:txBody>
      </p:sp>
      <p:sp>
        <p:nvSpPr>
          <p:cNvPr id="13" name="center hex"/>
          <p:cNvSpPr/>
          <p:nvPr/>
        </p:nvSpPr>
        <p:spPr>
          <a:xfrm>
            <a:off x="2240280" y="3227832"/>
            <a:ext cx="1280160" cy="1126541"/>
          </a:xfrm>
          <a:prstGeom prst="hexagon">
            <a:avLst/>
          </a:prstGeom>
          <a:solidFill>
            <a:schemeClr val="accent1"/>
          </a:solidFill>
          <a:ln/>
        </p:spPr>
      </p:sp>
      <p:sp>
        <p:nvSpPr>
          <p:cNvPr id="14" name="Text 12"/>
          <p:cNvSpPr txBox="1"/>
          <p:nvPr/>
        </p:nvSpPr>
        <p:spPr>
          <a:xfrm>
            <a:off x="2240280" y="3227832"/>
            <a:ext cx="1280160" cy="1126541"/>
          </a:xfrm>
          <a:prstGeom prst="rect">
            <a:avLst/>
          </a:prstGeom>
          <a:noFill/>
          <a:ln/>
        </p:spPr>
        <p:txBody>
          <a:bodyPr wrap="square" lIns="0" tIns="0" rIns="0" bIns="0" rtlCol="0" anchor="ctr"/>
          <a:lstStyle/>
          <a:p>
            <a:pPr algn="ctr" indent="0" marL="0">
              <a:buNone/>
            </a:pPr>
            <a:r>
              <a:rPr lang="en-US" sz="1600" b="1" dirty="0">
                <a:solidFill>
                  <a:srgbClr val="FFFFFF"/>
                </a:solidFill>
              </a:rPr>
              <a:t>あなた</a:t>
            </a:r>
            <a:endParaRPr lang="en-US" sz="1600" dirty="0"/>
          </a:p>
        </p:txBody>
      </p:sp>
      <p:sp>
        <p:nvSpPr>
          <p:cNvPr id="15" name="Shape 13"/>
          <p:cNvSpPr/>
          <p:nvPr/>
        </p:nvSpPr>
        <p:spPr>
          <a:xfrm>
            <a:off x="5989320" y="1920240"/>
            <a:ext cx="548640" cy="482803"/>
          </a:xfrm>
          <a:prstGeom prst="hexagon">
            <a:avLst/>
          </a:prstGeom>
          <a:solidFill>
            <a:schemeClr val="accent1"/>
          </a:solidFill>
          <a:ln/>
        </p:spPr>
      </p:sp>
      <p:pic>
        <p:nvPicPr>
          <p:cNvPr id="16" name="Image 0" descr="preencoded.png">    </p:cNvPr>
          <p:cNvPicPr>
            <a:picLocks noChangeAspect="1"/>
          </p:cNvPicPr>
          <p:nvPr/>
        </p:nvPicPr>
        <p:blipFill>
          <a:blip r:embed="rId1"/>
          <a:stretch>
            <a:fillRect/>
          </a:stretch>
        </p:blipFill>
        <p:spPr>
          <a:xfrm>
            <a:off x="6131966" y="2029968"/>
            <a:ext cx="263347" cy="263347"/>
          </a:xfrm>
          <a:prstGeom prst="rect">
            <a:avLst/>
          </a:prstGeom>
        </p:spPr>
      </p:pic>
      <p:sp>
        <p:nvSpPr>
          <p:cNvPr id="17" name="Text 14"/>
          <p:cNvSpPr txBox="1"/>
          <p:nvPr/>
        </p:nvSpPr>
        <p:spPr>
          <a:xfrm>
            <a:off x="6720840" y="1874520"/>
            <a:ext cx="4937760" cy="365760"/>
          </a:xfrm>
          <a:prstGeom prst="rect">
            <a:avLst/>
          </a:prstGeom>
          <a:noFill/>
          <a:ln/>
        </p:spPr>
        <p:txBody>
          <a:bodyPr wrap="square" lIns="0" tIns="0" rIns="0" bIns="0" rtlCol="0" anchor="t"/>
          <a:lstStyle/>
          <a:p>
            <a:pPr indent="0" marL="0">
              <a:lnSpc>
                <a:spcPct val="115000"/>
              </a:lnSpc>
              <a:buNone/>
            </a:pPr>
            <a:r>
              <a:rPr lang="en-US" sz="1700" b="1" dirty="0">
                <a:solidFill>
                  <a:schemeClr val="tx2"/>
                </a:solidFill>
              </a:rPr>
              <a:t>経験豊富なケアマネジャーに相談できる</a:t>
            </a:r>
            <a:endParaRPr lang="en-US" sz="1700" dirty="0"/>
          </a:p>
        </p:txBody>
      </p:sp>
      <p:sp>
        <p:nvSpPr>
          <p:cNvPr id="18" name="Text 15"/>
          <p:cNvSpPr txBox="1"/>
          <p:nvPr/>
        </p:nvSpPr>
        <p:spPr>
          <a:xfrm>
            <a:off x="6720840" y="2258568"/>
            <a:ext cx="4937760" cy="777240"/>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判断に迷うケースや初めて対応する場面で、経験のあるケアマネジャーに相談できる体制があります。</a:t>
            </a:r>
            <a:endParaRPr lang="en-US" sz="1400" dirty="0"/>
          </a:p>
        </p:txBody>
      </p:sp>
      <p:sp>
        <p:nvSpPr>
          <p:cNvPr id="19" name="Shape 16"/>
          <p:cNvSpPr/>
          <p:nvPr/>
        </p:nvSpPr>
        <p:spPr>
          <a:xfrm>
            <a:off x="5989320" y="3136392"/>
            <a:ext cx="548640" cy="482803"/>
          </a:xfrm>
          <a:prstGeom prst="hexagon">
            <a:avLst/>
          </a:prstGeom>
          <a:solidFill>
            <a:schemeClr val="accent1"/>
          </a:solidFill>
          <a:ln/>
        </p:spPr>
      </p:sp>
      <p:pic>
        <p:nvPicPr>
          <p:cNvPr id="20" name="Image 1" descr="preencoded.png">    </p:cNvPr>
          <p:cNvPicPr>
            <a:picLocks noChangeAspect="1"/>
          </p:cNvPicPr>
          <p:nvPr/>
        </p:nvPicPr>
        <p:blipFill>
          <a:blip r:embed="rId2"/>
          <a:stretch>
            <a:fillRect/>
          </a:stretch>
        </p:blipFill>
        <p:spPr>
          <a:xfrm>
            <a:off x="6131966" y="3246120"/>
            <a:ext cx="263347" cy="263347"/>
          </a:xfrm>
          <a:prstGeom prst="rect">
            <a:avLst/>
          </a:prstGeom>
        </p:spPr>
      </p:pic>
      <p:sp>
        <p:nvSpPr>
          <p:cNvPr id="21" name="Text 17"/>
          <p:cNvSpPr txBox="1"/>
          <p:nvPr/>
        </p:nvSpPr>
        <p:spPr>
          <a:xfrm>
            <a:off x="6720840" y="3090672"/>
            <a:ext cx="4937760" cy="365760"/>
          </a:xfrm>
          <a:prstGeom prst="rect">
            <a:avLst/>
          </a:prstGeom>
          <a:noFill/>
          <a:ln/>
        </p:spPr>
        <p:txBody>
          <a:bodyPr wrap="square" lIns="0" tIns="0" rIns="0" bIns="0" rtlCol="0" anchor="t"/>
          <a:lstStyle/>
          <a:p>
            <a:pPr indent="0" marL="0">
              <a:lnSpc>
                <a:spcPct val="115000"/>
              </a:lnSpc>
              <a:buNone/>
            </a:pPr>
            <a:r>
              <a:rPr lang="en-US" sz="1700" b="1" dirty="0">
                <a:solidFill>
                  <a:schemeClr val="tx2"/>
                </a:solidFill>
              </a:rPr>
              <a:t>小さな疑問も声をかけやすく</a:t>
            </a:r>
            <a:endParaRPr lang="en-US" sz="1700" dirty="0"/>
          </a:p>
        </p:txBody>
      </p:sp>
      <p:sp>
        <p:nvSpPr>
          <p:cNvPr id="22" name="Text 18"/>
          <p:cNvSpPr txBox="1"/>
          <p:nvPr/>
        </p:nvSpPr>
        <p:spPr>
          <a:xfrm>
            <a:off x="6720840" y="3474720"/>
            <a:ext cx="4937760" cy="777240"/>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「こんなことを聞いてもいいのかな」と思うことも、早めに共有できる関係を大切にしています。</a:t>
            </a:r>
            <a:endParaRPr lang="en-US" sz="1400" dirty="0"/>
          </a:p>
        </p:txBody>
      </p:sp>
      <p:sp>
        <p:nvSpPr>
          <p:cNvPr id="23" name="Shape 19"/>
          <p:cNvSpPr/>
          <p:nvPr/>
        </p:nvSpPr>
        <p:spPr>
          <a:xfrm>
            <a:off x="5989320" y="4352544"/>
            <a:ext cx="548640" cy="482803"/>
          </a:xfrm>
          <a:prstGeom prst="hexagon">
            <a:avLst/>
          </a:prstGeom>
          <a:solidFill>
            <a:schemeClr val="accent1"/>
          </a:solidFill>
          <a:ln/>
        </p:spPr>
      </p:sp>
      <p:pic>
        <p:nvPicPr>
          <p:cNvPr id="24" name="Image 2" descr="preencoded.png">    </p:cNvPr>
          <p:cNvPicPr>
            <a:picLocks noChangeAspect="1"/>
          </p:cNvPicPr>
          <p:nvPr/>
        </p:nvPicPr>
        <p:blipFill>
          <a:blip r:embed="rId3"/>
          <a:stretch>
            <a:fillRect/>
          </a:stretch>
        </p:blipFill>
        <p:spPr>
          <a:xfrm>
            <a:off x="6131966" y="4462272"/>
            <a:ext cx="263347" cy="263347"/>
          </a:xfrm>
          <a:prstGeom prst="rect">
            <a:avLst/>
          </a:prstGeom>
        </p:spPr>
      </p:pic>
      <p:sp>
        <p:nvSpPr>
          <p:cNvPr id="25" name="Text 20"/>
          <p:cNvSpPr txBox="1"/>
          <p:nvPr/>
        </p:nvSpPr>
        <p:spPr>
          <a:xfrm>
            <a:off x="6720840" y="4306824"/>
            <a:ext cx="4937760" cy="365760"/>
          </a:xfrm>
          <a:prstGeom prst="rect">
            <a:avLst/>
          </a:prstGeom>
          <a:noFill/>
          <a:ln/>
        </p:spPr>
        <p:txBody>
          <a:bodyPr wrap="square" lIns="0" tIns="0" rIns="0" bIns="0" rtlCol="0" anchor="t"/>
          <a:lstStyle/>
          <a:p>
            <a:pPr indent="0" marL="0">
              <a:lnSpc>
                <a:spcPct val="115000"/>
              </a:lnSpc>
              <a:buNone/>
            </a:pPr>
            <a:r>
              <a:rPr lang="en-US" sz="1700" b="1" dirty="0">
                <a:solidFill>
                  <a:schemeClr val="tx2"/>
                </a:solidFill>
              </a:rPr>
              <a:t>医療・リハビリの視点も借りる</a:t>
            </a:r>
            <a:endParaRPr lang="en-US" sz="1700" dirty="0"/>
          </a:p>
        </p:txBody>
      </p:sp>
      <p:sp>
        <p:nvSpPr>
          <p:cNvPr id="26" name="Text 21"/>
          <p:cNvSpPr txBox="1"/>
          <p:nvPr/>
        </p:nvSpPr>
        <p:spPr>
          <a:xfrm>
            <a:off x="6720840" y="4690872"/>
            <a:ext cx="4937760" cy="777240"/>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同じ法人の訪問看護・リハビリ職と意見交換しやすい環境づくりを目指しています。</a:t>
            </a:r>
            <a:endParaRPr lang="en-US" sz="1400" dirty="0"/>
          </a:p>
        </p:txBody>
      </p:sp>
      <p:sp>
        <p:nvSpPr>
          <p:cNvPr id="27" name="support note"/>
          <p:cNvSpPr/>
          <p:nvPr/>
        </p:nvSpPr>
        <p:spPr>
          <a:xfrm>
            <a:off x="5989320" y="5532120"/>
            <a:ext cx="5669280" cy="548640"/>
          </a:xfrm>
          <a:prstGeom prst="roundRect">
            <a:avLst>
              <a:gd name="adj" fmla="val 20000"/>
            </a:avLst>
          </a:prstGeom>
          <a:solidFill>
            <a:schemeClr val="bg2"/>
          </a:solidFill>
          <a:ln/>
        </p:spPr>
      </p:sp>
      <p:sp>
        <p:nvSpPr>
          <p:cNvPr id="28" name="Text 23"/>
          <p:cNvSpPr txBox="1"/>
          <p:nvPr/>
        </p:nvSpPr>
        <p:spPr>
          <a:xfrm>
            <a:off x="6172200" y="5532120"/>
            <a:ext cx="5394960" cy="548640"/>
          </a:xfrm>
          <a:prstGeom prst="rect">
            <a:avLst/>
          </a:prstGeom>
          <a:noFill/>
          <a:ln/>
        </p:spPr>
        <p:txBody>
          <a:bodyPr wrap="square" lIns="0" tIns="0" rIns="0" bIns="0" rtlCol="0" anchor="ctr"/>
          <a:lstStyle/>
          <a:p>
            <a:pPr indent="0" marL="0">
              <a:lnSpc>
                <a:spcPct val="115000"/>
              </a:lnSpc>
              <a:buNone/>
            </a:pPr>
            <a:r>
              <a:rPr lang="en-US" sz="1300" dirty="0">
                <a:solidFill>
                  <a:schemeClr val="tx1"/>
                </a:solidFill>
              </a:rPr>
              <a:t>相談の方法・頻度・担当者など具体的な体制は</a:t>
            </a:r>
            <a:pPr indent="0" marL="0">
              <a:lnSpc>
                <a:spcPct val="115000"/>
              </a:lnSpc>
              <a:buNone/>
            </a:pPr>
            <a:r>
              <a:rPr lang="en-US" sz="1300" b="1" dirty="0">
                <a:solidFill>
                  <a:schemeClr val="accent6"/>
                </a:solidFill>
              </a:rPr>
              <a:t>［要確認］</a:t>
            </a:r>
            <a:endParaRPr lang="en-US" sz="1300" dirty="0"/>
          </a:p>
        </p:txBody>
      </p:sp>
      <p:sp>
        <p:nvSpPr>
          <p:cNvPr id="25" name="Slide Number Placeholder 0"/>
          <p:cNvSpPr>
            <a:spLocks noGrp="1"/>
          </p:cNvSpPr>
          <p:nvPr>
            <p:ph type="sldNum" sz="quarter" idx="4294967295"/>
          </p:nvPr>
        </p:nvSpPr>
        <p:spPr>
          <a:xfrm>
            <a:off x="548640" y="635508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1"/>
                </a:solidFill>
              </a:defRPr>
            </a:lvl1pPr>
          </a:lstStyle>
          <a:p>
            <a:pPr algn="l"/>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仕事に集中できる環境</a:t>
            </a:r>
            <a:endParaRPr lang="en-US" sz="3000" dirty="0"/>
          </a:p>
        </p:txBody>
      </p:sp>
      <p:sp>
        <p:nvSpPr>
          <p:cNvPr id="3" name="env 1"/>
          <p:cNvSpPr/>
          <p:nvPr/>
        </p:nvSpPr>
        <p:spPr>
          <a:xfrm>
            <a:off x="548640" y="1371600"/>
            <a:ext cx="6080760" cy="1417320"/>
          </a:xfrm>
          <a:prstGeom prst="roundRect">
            <a:avLst>
              <a:gd name="adj" fmla="val 7742"/>
            </a:avLst>
          </a:prstGeom>
          <a:solidFill>
            <a:schemeClr val="bg2"/>
          </a:solidFill>
          <a:ln/>
        </p:spPr>
      </p:sp>
      <p:sp>
        <p:nvSpPr>
          <p:cNvPr id="4" name="Shape 2"/>
          <p:cNvSpPr/>
          <p:nvPr/>
        </p:nvSpPr>
        <p:spPr>
          <a:xfrm>
            <a:off x="777240" y="1673352"/>
            <a:ext cx="868680" cy="764438"/>
          </a:xfrm>
          <a:prstGeom prst="hexagon">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003097" y="1847088"/>
            <a:ext cx="416966" cy="416966"/>
          </a:xfrm>
          <a:prstGeom prst="rect">
            <a:avLst/>
          </a:prstGeom>
        </p:spPr>
      </p:pic>
      <p:sp>
        <p:nvSpPr>
          <p:cNvPr id="6" name="Text 3"/>
          <p:cNvSpPr txBox="1"/>
          <p:nvPr/>
        </p:nvSpPr>
        <p:spPr>
          <a:xfrm>
            <a:off x="1874520" y="1508760"/>
            <a:ext cx="4572000" cy="365760"/>
          </a:xfrm>
          <a:prstGeom prst="rect">
            <a:avLst/>
          </a:prstGeom>
          <a:noFill/>
          <a:ln/>
        </p:spPr>
        <p:txBody>
          <a:bodyPr wrap="square" lIns="0" tIns="0" rIns="0" bIns="0" rtlCol="0" anchor="t"/>
          <a:lstStyle/>
          <a:p>
            <a:pPr indent="0" marL="0">
              <a:lnSpc>
                <a:spcPct val="115000"/>
              </a:lnSpc>
              <a:buNone/>
            </a:pPr>
            <a:r>
              <a:rPr lang="en-US" sz="1700" b="1" dirty="0">
                <a:solidFill>
                  <a:schemeClr val="tx2"/>
                </a:solidFill>
              </a:rPr>
              <a:t>業務用の端末を貸与</a:t>
            </a:r>
            <a:endParaRPr lang="en-US" sz="1700" dirty="0"/>
          </a:p>
        </p:txBody>
      </p:sp>
      <p:sp>
        <p:nvSpPr>
          <p:cNvPr id="7" name="Text 4"/>
          <p:cNvSpPr txBox="1"/>
          <p:nvPr/>
        </p:nvSpPr>
        <p:spPr>
          <a:xfrm>
            <a:off x="1874520" y="1901952"/>
            <a:ext cx="4572000" cy="841248"/>
          </a:xfrm>
          <a:prstGeom prst="rect">
            <a:avLst/>
          </a:prstGeom>
          <a:noFill/>
          <a:ln/>
        </p:spPr>
        <p:txBody>
          <a:bodyPr wrap="square" lIns="0" tIns="0" rIns="0" bIns="0" rtlCol="0" anchor="t"/>
          <a:lstStyle/>
          <a:p>
            <a:pPr indent="0" marL="0">
              <a:lnSpc>
                <a:spcPct val="115000"/>
              </a:lnSpc>
              <a:buNone/>
            </a:pPr>
            <a:r>
              <a:rPr lang="en-US" sz="1350" dirty="0">
                <a:solidFill>
                  <a:schemeClr val="tx1"/>
                </a:solidFill>
              </a:rPr>
              <a:t>パソコン・スマートフォン・タブレットを貸与します。記録や連絡、情報確認に活用できます。</a:t>
            </a:r>
            <a:endParaRPr lang="en-US" sz="1350" dirty="0"/>
          </a:p>
          <a:p>
            <a:pPr indent="0" marL="0">
              <a:lnSpc>
                <a:spcPct val="115000"/>
              </a:lnSpc>
              <a:buNone/>
            </a:pPr>
            <a:r>
              <a:rPr lang="en-US" sz="1350" dirty="0">
                <a:solidFill>
                  <a:schemeClr val="tx1"/>
                </a:solidFill>
              </a:rPr>
              <a:t>対象・台数・使用するシステム</a:t>
            </a:r>
            <a:pPr indent="0" marL="0">
              <a:lnSpc>
                <a:spcPct val="115000"/>
              </a:lnSpc>
              <a:buNone/>
            </a:pPr>
            <a:r>
              <a:rPr lang="en-US" sz="1350" b="1" dirty="0">
                <a:solidFill>
                  <a:schemeClr val="accent6"/>
                </a:solidFill>
              </a:rPr>
              <a:t>［要確認］</a:t>
            </a:r>
            <a:endParaRPr lang="en-US" sz="1350" dirty="0"/>
          </a:p>
        </p:txBody>
      </p:sp>
      <p:sp>
        <p:nvSpPr>
          <p:cNvPr id="8" name="env 2"/>
          <p:cNvSpPr/>
          <p:nvPr/>
        </p:nvSpPr>
        <p:spPr>
          <a:xfrm>
            <a:off x="548640" y="2971800"/>
            <a:ext cx="6080760" cy="1417320"/>
          </a:xfrm>
          <a:prstGeom prst="roundRect">
            <a:avLst>
              <a:gd name="adj" fmla="val 7742"/>
            </a:avLst>
          </a:prstGeom>
          <a:solidFill>
            <a:schemeClr val="bg2"/>
          </a:solidFill>
          <a:ln/>
        </p:spPr>
      </p:sp>
      <p:sp>
        <p:nvSpPr>
          <p:cNvPr id="9" name="Shape 6"/>
          <p:cNvSpPr/>
          <p:nvPr/>
        </p:nvSpPr>
        <p:spPr>
          <a:xfrm>
            <a:off x="777240" y="3273552"/>
            <a:ext cx="868680" cy="764438"/>
          </a:xfrm>
          <a:prstGeom prst="hexagon">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1003097" y="3447288"/>
            <a:ext cx="416966" cy="416966"/>
          </a:xfrm>
          <a:prstGeom prst="rect">
            <a:avLst/>
          </a:prstGeom>
        </p:spPr>
      </p:pic>
      <p:sp>
        <p:nvSpPr>
          <p:cNvPr id="11" name="Text 7"/>
          <p:cNvSpPr txBox="1"/>
          <p:nvPr/>
        </p:nvSpPr>
        <p:spPr>
          <a:xfrm>
            <a:off x="1874520" y="3108960"/>
            <a:ext cx="4572000" cy="365760"/>
          </a:xfrm>
          <a:prstGeom prst="rect">
            <a:avLst/>
          </a:prstGeom>
          <a:noFill/>
          <a:ln/>
        </p:spPr>
        <p:txBody>
          <a:bodyPr wrap="square" lIns="0" tIns="0" rIns="0" bIns="0" rtlCol="0" anchor="t"/>
          <a:lstStyle/>
          <a:p>
            <a:pPr indent="0" marL="0">
              <a:lnSpc>
                <a:spcPct val="115000"/>
              </a:lnSpc>
              <a:buNone/>
            </a:pPr>
            <a:r>
              <a:rPr lang="en-US" sz="1700" b="1" dirty="0">
                <a:solidFill>
                  <a:schemeClr val="tx2"/>
                </a:solidFill>
              </a:rPr>
              <a:t>訪問には社有車を貸与</a:t>
            </a:r>
            <a:endParaRPr lang="en-US" sz="1700" dirty="0"/>
          </a:p>
        </p:txBody>
      </p:sp>
      <p:sp>
        <p:nvSpPr>
          <p:cNvPr id="12" name="Text 8"/>
          <p:cNvSpPr txBox="1"/>
          <p:nvPr/>
        </p:nvSpPr>
        <p:spPr>
          <a:xfrm>
            <a:off x="1874520" y="3502152"/>
            <a:ext cx="4572000" cy="841248"/>
          </a:xfrm>
          <a:prstGeom prst="rect">
            <a:avLst/>
          </a:prstGeom>
          <a:noFill/>
          <a:ln/>
        </p:spPr>
        <p:txBody>
          <a:bodyPr wrap="square" lIns="0" tIns="0" rIns="0" bIns="0" rtlCol="0" anchor="t"/>
          <a:lstStyle/>
          <a:p>
            <a:pPr indent="0" marL="0">
              <a:lnSpc>
                <a:spcPct val="115000"/>
              </a:lnSpc>
              <a:buNone/>
            </a:pPr>
            <a:r>
              <a:rPr lang="en-US" sz="1350" dirty="0">
                <a:solidFill>
                  <a:schemeClr val="tx1"/>
                </a:solidFill>
              </a:rPr>
              <a:t>利用者宅などへの訪問に使う社有車を貸与します。</a:t>
            </a:r>
            <a:endParaRPr lang="en-US" sz="1350" dirty="0"/>
          </a:p>
          <a:p>
            <a:pPr indent="0" marL="0">
              <a:lnSpc>
                <a:spcPct val="115000"/>
              </a:lnSpc>
              <a:buNone/>
            </a:pPr>
            <a:r>
              <a:rPr lang="en-US" sz="1350" dirty="0">
                <a:solidFill>
                  <a:schemeClr val="tx1"/>
                </a:solidFill>
              </a:rPr>
              <a:t>貸与条件・利用ルール</a:t>
            </a:r>
            <a:pPr indent="0" marL="0">
              <a:lnSpc>
                <a:spcPct val="115000"/>
              </a:lnSpc>
              <a:buNone/>
            </a:pPr>
            <a:r>
              <a:rPr lang="en-US" sz="1350" b="1" dirty="0">
                <a:solidFill>
                  <a:schemeClr val="accent6"/>
                </a:solidFill>
              </a:rPr>
              <a:t>［要確認］</a:t>
            </a:r>
            <a:endParaRPr lang="en-US" sz="1350" dirty="0"/>
          </a:p>
        </p:txBody>
      </p:sp>
      <p:sp>
        <p:nvSpPr>
          <p:cNvPr id="13" name="env 3"/>
          <p:cNvSpPr/>
          <p:nvPr/>
        </p:nvSpPr>
        <p:spPr>
          <a:xfrm>
            <a:off x="548640" y="4572000"/>
            <a:ext cx="6080760" cy="1417320"/>
          </a:xfrm>
          <a:prstGeom prst="roundRect">
            <a:avLst>
              <a:gd name="adj" fmla="val 7742"/>
            </a:avLst>
          </a:prstGeom>
          <a:solidFill>
            <a:schemeClr val="bg2"/>
          </a:solidFill>
          <a:ln/>
        </p:spPr>
      </p:sp>
      <p:sp>
        <p:nvSpPr>
          <p:cNvPr id="14" name="Shape 10"/>
          <p:cNvSpPr/>
          <p:nvPr/>
        </p:nvSpPr>
        <p:spPr>
          <a:xfrm>
            <a:off x="777240" y="4873752"/>
            <a:ext cx="868680" cy="764438"/>
          </a:xfrm>
          <a:prstGeom prst="hexagon">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1003097" y="5047488"/>
            <a:ext cx="416966" cy="416966"/>
          </a:xfrm>
          <a:prstGeom prst="rect">
            <a:avLst/>
          </a:prstGeom>
        </p:spPr>
      </p:pic>
      <p:sp>
        <p:nvSpPr>
          <p:cNvPr id="16" name="Text 11"/>
          <p:cNvSpPr txBox="1"/>
          <p:nvPr/>
        </p:nvSpPr>
        <p:spPr>
          <a:xfrm>
            <a:off x="1874520" y="4709160"/>
            <a:ext cx="4572000" cy="365760"/>
          </a:xfrm>
          <a:prstGeom prst="rect">
            <a:avLst/>
          </a:prstGeom>
          <a:noFill/>
          <a:ln/>
        </p:spPr>
        <p:txBody>
          <a:bodyPr wrap="square" lIns="0" tIns="0" rIns="0" bIns="0" rtlCol="0" anchor="t"/>
          <a:lstStyle/>
          <a:p>
            <a:pPr indent="0" marL="0">
              <a:lnSpc>
                <a:spcPct val="115000"/>
              </a:lnSpc>
              <a:buNone/>
            </a:pPr>
            <a:r>
              <a:rPr lang="en-US" sz="1700" b="1" dirty="0">
                <a:solidFill>
                  <a:schemeClr val="tx2"/>
                </a:solidFill>
              </a:rPr>
              <a:t>働き方の詳細は面談で</a:t>
            </a:r>
            <a:endParaRPr lang="en-US" sz="1700" dirty="0"/>
          </a:p>
        </p:txBody>
      </p:sp>
      <p:sp>
        <p:nvSpPr>
          <p:cNvPr id="17" name="Text 12"/>
          <p:cNvSpPr txBox="1"/>
          <p:nvPr/>
        </p:nvSpPr>
        <p:spPr>
          <a:xfrm>
            <a:off x="1874520" y="5102352"/>
            <a:ext cx="4572000" cy="841248"/>
          </a:xfrm>
          <a:prstGeom prst="rect">
            <a:avLst/>
          </a:prstGeom>
          <a:noFill/>
          <a:ln/>
        </p:spPr>
        <p:txBody>
          <a:bodyPr wrap="square" lIns="0" tIns="0" rIns="0" bIns="0" rtlCol="0" anchor="t"/>
          <a:lstStyle/>
          <a:p>
            <a:pPr indent="0" marL="0">
              <a:lnSpc>
                <a:spcPct val="115000"/>
              </a:lnSpc>
              <a:buNone/>
            </a:pPr>
            <a:r>
              <a:rPr lang="en-US" sz="1350" dirty="0">
                <a:solidFill>
                  <a:schemeClr val="tx1"/>
                </a:solidFill>
              </a:rPr>
              <a:t>直行直帰・在宅勤務の可否や残業の状況は、最新の情報を面談でお伝えします。</a:t>
            </a:r>
            <a:endParaRPr lang="en-US" sz="1350" dirty="0"/>
          </a:p>
          <a:p>
            <a:pPr indent="0" marL="0">
              <a:lnSpc>
                <a:spcPct val="115000"/>
              </a:lnSpc>
              <a:buNone/>
            </a:pPr>
            <a:r>
              <a:rPr lang="en-US" sz="1350" dirty="0">
                <a:solidFill>
                  <a:schemeClr val="tx1"/>
                </a:solidFill>
              </a:rPr>
              <a:t>運用・実績は</a:t>
            </a:r>
            <a:pPr indent="0" marL="0">
              <a:lnSpc>
                <a:spcPct val="115000"/>
              </a:lnSpc>
              <a:buNone/>
            </a:pPr>
            <a:r>
              <a:rPr lang="en-US" sz="1350" b="1" dirty="0">
                <a:solidFill>
                  <a:schemeClr val="accent6"/>
                </a:solidFill>
              </a:rPr>
              <a:t>［要確認］</a:t>
            </a:r>
            <a:endParaRPr lang="en-US" sz="1350" dirty="0"/>
          </a:p>
        </p:txBody>
      </p:sp>
      <p:pic>
        <p:nvPicPr>
          <p:cNvPr id="18" name="interior photo" descr="/tmp/claude-0/-home-user-UCHICARE/0e7d8274-02c5-574f-9991-dce834059096/scratchpad/interior.jpg">    </p:cNvPr>
          <p:cNvPicPr>
            <a:picLocks noChangeAspect="1"/>
          </p:cNvPicPr>
          <p:nvPr/>
        </p:nvPicPr>
        <p:blipFill>
          <a:blip r:embed="rId4"/>
          <a:srcRect l="0" r="0" t="0" b="0"/>
          <a:stretch/>
        </p:blipFill>
        <p:spPr>
          <a:xfrm>
            <a:off x="6949440" y="1371600"/>
            <a:ext cx="4709160" cy="3063240"/>
          </a:xfrm>
          <a:prstGeom prst="rect">
            <a:avLst/>
          </a:prstGeom>
        </p:spPr>
      </p:pic>
      <p:sp>
        <p:nvSpPr>
          <p:cNvPr id="19" name="Text 13"/>
          <p:cNvSpPr txBox="1"/>
          <p:nvPr/>
        </p:nvSpPr>
        <p:spPr>
          <a:xfrm>
            <a:off x="6949440" y="4480560"/>
            <a:ext cx="4709160" cy="256032"/>
          </a:xfrm>
          <a:prstGeom prst="rect">
            <a:avLst/>
          </a:prstGeom>
          <a:noFill/>
          <a:ln/>
        </p:spPr>
        <p:txBody>
          <a:bodyPr wrap="square" lIns="0" tIns="0" rIns="0" bIns="0" rtlCol="0" anchor="t"/>
          <a:lstStyle/>
          <a:p>
            <a:pPr algn="r" indent="0" marL="0">
              <a:lnSpc>
                <a:spcPct val="115000"/>
              </a:lnSpc>
              <a:buNone/>
            </a:pPr>
            <a:r>
              <a:rPr lang="en-US" sz="1100" dirty="0">
                <a:solidFill>
                  <a:schemeClr val="accent5"/>
                </a:solidFill>
              </a:rPr>
              <a:t>事業所の室内</a:t>
            </a:r>
            <a:endParaRPr lang="en-US" sz="1100" dirty="0"/>
          </a:p>
        </p:txBody>
      </p:sp>
      <p:sp>
        <p:nvSpPr>
          <p:cNvPr id="20" name="photo frame car"/>
          <p:cNvSpPr/>
          <p:nvPr/>
        </p:nvSpPr>
        <p:spPr>
          <a:xfrm>
            <a:off x="6949440" y="4846320"/>
            <a:ext cx="4709160" cy="1234440"/>
          </a:xfrm>
          <a:prstGeom prst="roundRect">
            <a:avLst>
              <a:gd name="adj" fmla="val 7407"/>
            </a:avLst>
          </a:prstGeom>
          <a:solidFill>
            <a:schemeClr val="bg2"/>
          </a:solidFill>
          <a:ln w="19050">
            <a:solidFill>
              <a:schemeClr val="accent2"/>
            </a:solidFill>
            <a:prstDash val="dash"/>
          </a:ln>
        </p:spPr>
      </p:sp>
      <p:sp>
        <p:nvSpPr>
          <p:cNvPr id="21" name="Text 15"/>
          <p:cNvSpPr txBox="1"/>
          <p:nvPr/>
        </p:nvSpPr>
        <p:spPr>
          <a:xfrm>
            <a:off x="6949440" y="4846320"/>
            <a:ext cx="4709160" cy="1234440"/>
          </a:xfrm>
          <a:prstGeom prst="rect">
            <a:avLst/>
          </a:prstGeom>
          <a:noFill/>
          <a:ln/>
        </p:spPr>
        <p:txBody>
          <a:bodyPr wrap="square" lIns="1905" tIns="1905" rIns="1905" bIns="1905" rtlCol="0" anchor="ctr"/>
          <a:lstStyle/>
          <a:p>
            <a:pPr algn="ctr" indent="0" marL="0">
              <a:buNone/>
            </a:pPr>
            <a:r>
              <a:rPr lang="en-US" sz="1300" dirty="0">
                <a:solidFill>
                  <a:schemeClr val="accent5"/>
                </a:solidFill>
              </a:rPr>
              <a:t>写真差し替え枠</a:t>
            </a:r>
            <a:endParaRPr lang="en-US" sz="1300" dirty="0"/>
          </a:p>
          <a:p>
            <a:pPr algn="ctr" indent="0" marL="0">
              <a:buNone/>
            </a:pPr>
            <a:r>
              <a:rPr lang="en-US" sz="1300" dirty="0">
                <a:solidFill>
                  <a:schemeClr val="accent5"/>
                </a:solidFill>
              </a:rPr>
              <a:t>貸与端末・社有車</a:t>
            </a:r>
            <a:endParaRPr lang="en-US" sz="1300" dirty="0"/>
          </a:p>
        </p:txBody>
      </p:sp>
      <p:sp>
        <p:nvSpPr>
          <p:cNvPr id="25" name="Slide Number Placeholder 0"/>
          <p:cNvSpPr>
            <a:spLocks noGrp="1"/>
          </p:cNvSpPr>
          <p:nvPr>
            <p:ph type="sldNum" sz="quarter" idx="4294967295"/>
          </p:nvPr>
        </p:nvSpPr>
        <p:spPr>
          <a:xfrm>
            <a:off x="548640" y="635508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1"/>
                </a:solidFill>
              </a:defRPr>
            </a:lvl1pPr>
          </a:lstStyle>
          <a:p>
            <a:pPr algn="l"/>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休みと学びの支援</a:t>
            </a:r>
            <a:endParaRPr lang="en-US" sz="3000" dirty="0"/>
          </a:p>
        </p:txBody>
      </p:sp>
      <p:sp>
        <p:nvSpPr>
          <p:cNvPr id="3" name="benefit 1"/>
          <p:cNvSpPr/>
          <p:nvPr/>
        </p:nvSpPr>
        <p:spPr>
          <a:xfrm>
            <a:off x="548640" y="1371600"/>
            <a:ext cx="3520440" cy="4023360"/>
          </a:xfrm>
          <a:prstGeom prst="roundRect">
            <a:avLst>
              <a:gd name="adj" fmla="val 3117"/>
            </a:avLst>
          </a:prstGeom>
          <a:solidFill>
            <a:schemeClr val="bg2"/>
          </a:solidFill>
          <a:ln/>
        </p:spPr>
      </p:sp>
      <p:sp>
        <p:nvSpPr>
          <p:cNvPr id="4" name="Shape 2"/>
          <p:cNvSpPr/>
          <p:nvPr/>
        </p:nvSpPr>
        <p:spPr>
          <a:xfrm>
            <a:off x="1892808" y="1600200"/>
            <a:ext cx="822960" cy="724205"/>
          </a:xfrm>
          <a:prstGeom prst="hexagon">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2106778" y="1764792"/>
            <a:ext cx="395021" cy="395021"/>
          </a:xfrm>
          <a:prstGeom prst="rect">
            <a:avLst/>
          </a:prstGeom>
        </p:spPr>
      </p:pic>
      <p:sp>
        <p:nvSpPr>
          <p:cNvPr id="6" name="Text 3"/>
          <p:cNvSpPr txBox="1"/>
          <p:nvPr/>
        </p:nvSpPr>
        <p:spPr>
          <a:xfrm>
            <a:off x="731520" y="2468880"/>
            <a:ext cx="3154680" cy="365760"/>
          </a:xfrm>
          <a:prstGeom prst="rect">
            <a:avLst/>
          </a:prstGeom>
          <a:noFill/>
          <a:ln/>
        </p:spPr>
        <p:txBody>
          <a:bodyPr wrap="square" lIns="0" tIns="0" rIns="0" bIns="0" rtlCol="0" anchor="t"/>
          <a:lstStyle/>
          <a:p>
            <a:pPr algn="ctr" indent="0" marL="0">
              <a:lnSpc>
                <a:spcPct val="115000"/>
              </a:lnSpc>
              <a:buNone/>
            </a:pPr>
            <a:r>
              <a:rPr lang="en-US" sz="1700" b="1" dirty="0">
                <a:solidFill>
                  <a:schemeClr val="tx2"/>
                </a:solidFill>
              </a:rPr>
              <a:t>年間休日</a:t>
            </a:r>
            <a:endParaRPr lang="en-US" sz="1700" dirty="0"/>
          </a:p>
        </p:txBody>
      </p:sp>
      <p:sp>
        <p:nvSpPr>
          <p:cNvPr id="7" name="Text 4"/>
          <p:cNvSpPr txBox="1"/>
          <p:nvPr/>
        </p:nvSpPr>
        <p:spPr>
          <a:xfrm>
            <a:off x="731520" y="2834640"/>
            <a:ext cx="3154680" cy="822960"/>
          </a:xfrm>
          <a:prstGeom prst="rect">
            <a:avLst/>
          </a:prstGeom>
          <a:noFill/>
          <a:ln/>
        </p:spPr>
        <p:txBody>
          <a:bodyPr wrap="square" lIns="0" tIns="0" rIns="0" bIns="0" rtlCol="0" anchor="ctr"/>
          <a:lstStyle/>
          <a:p>
            <a:pPr algn="ctr" indent="0" marL="0">
              <a:lnSpc>
                <a:spcPct val="115000"/>
              </a:lnSpc>
              <a:buNone/>
            </a:pPr>
            <a:r>
              <a:rPr lang="en-US" sz="3200" b="1" dirty="0">
                <a:solidFill>
                  <a:schemeClr val="accent1"/>
                </a:solidFill>
              </a:rPr>
              <a:t>121日以上</a:t>
            </a:r>
            <a:endParaRPr lang="en-US" sz="3200" dirty="0"/>
          </a:p>
        </p:txBody>
      </p:sp>
      <p:sp>
        <p:nvSpPr>
          <p:cNvPr id="8" name="Text 5"/>
          <p:cNvSpPr txBox="1"/>
          <p:nvPr/>
        </p:nvSpPr>
        <p:spPr>
          <a:xfrm>
            <a:off x="822960" y="3794760"/>
            <a:ext cx="2971800" cy="1463040"/>
          </a:xfrm>
          <a:prstGeom prst="rect">
            <a:avLst/>
          </a:prstGeom>
          <a:noFill/>
          <a:ln/>
        </p:spPr>
        <p:txBody>
          <a:bodyPr wrap="square" lIns="0" tIns="0" rIns="0" bIns="0" rtlCol="0" anchor="t"/>
          <a:lstStyle/>
          <a:p>
            <a:pPr indent="0" marL="0">
              <a:lnSpc>
                <a:spcPct val="115000"/>
              </a:lnSpc>
              <a:buNone/>
            </a:pPr>
            <a:r>
              <a:rPr lang="en-US" sz="1350" dirty="0">
                <a:solidFill>
                  <a:schemeClr val="tx1"/>
                </a:solidFill>
              </a:rPr>
              <a:t>休日の曜日・算定条件</a:t>
            </a:r>
            <a:pPr indent="0" marL="0">
              <a:lnSpc>
                <a:spcPct val="115000"/>
              </a:lnSpc>
              <a:buNone/>
            </a:pPr>
            <a:r>
              <a:rPr lang="en-US" sz="1350" b="1" dirty="0">
                <a:solidFill>
                  <a:schemeClr val="accent6"/>
                </a:solidFill>
              </a:rPr>
              <a:t>［要確認］</a:t>
            </a:r>
            <a:endParaRPr lang="en-US" sz="1350" dirty="0"/>
          </a:p>
        </p:txBody>
      </p:sp>
      <p:sp>
        <p:nvSpPr>
          <p:cNvPr id="9" name="benefit 2"/>
          <p:cNvSpPr/>
          <p:nvPr/>
        </p:nvSpPr>
        <p:spPr>
          <a:xfrm>
            <a:off x="4297680" y="1371600"/>
            <a:ext cx="3520440" cy="4023360"/>
          </a:xfrm>
          <a:prstGeom prst="roundRect">
            <a:avLst>
              <a:gd name="adj" fmla="val 3117"/>
            </a:avLst>
          </a:prstGeom>
          <a:solidFill>
            <a:schemeClr val="bg2"/>
          </a:solidFill>
          <a:ln/>
        </p:spPr>
      </p:sp>
      <p:sp>
        <p:nvSpPr>
          <p:cNvPr id="10" name="Shape 7"/>
          <p:cNvSpPr/>
          <p:nvPr/>
        </p:nvSpPr>
        <p:spPr>
          <a:xfrm>
            <a:off x="5641848" y="1600200"/>
            <a:ext cx="822960" cy="724205"/>
          </a:xfrm>
          <a:prstGeom prst="hexagon">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5855818" y="1764792"/>
            <a:ext cx="395021" cy="395021"/>
          </a:xfrm>
          <a:prstGeom prst="rect">
            <a:avLst/>
          </a:prstGeom>
        </p:spPr>
      </p:pic>
      <p:sp>
        <p:nvSpPr>
          <p:cNvPr id="12" name="Text 8"/>
          <p:cNvSpPr txBox="1"/>
          <p:nvPr/>
        </p:nvSpPr>
        <p:spPr>
          <a:xfrm>
            <a:off x="4480560" y="2468880"/>
            <a:ext cx="3154680" cy="365760"/>
          </a:xfrm>
          <a:prstGeom prst="rect">
            <a:avLst/>
          </a:prstGeom>
          <a:noFill/>
          <a:ln/>
        </p:spPr>
        <p:txBody>
          <a:bodyPr wrap="square" lIns="0" tIns="0" rIns="0" bIns="0" rtlCol="0" anchor="t"/>
          <a:lstStyle/>
          <a:p>
            <a:pPr algn="ctr" indent="0" marL="0">
              <a:lnSpc>
                <a:spcPct val="115000"/>
              </a:lnSpc>
              <a:buNone/>
            </a:pPr>
            <a:r>
              <a:rPr lang="en-US" sz="1700" b="1" dirty="0">
                <a:solidFill>
                  <a:schemeClr val="tx2"/>
                </a:solidFill>
              </a:rPr>
              <a:t>リフレッシュ休暇</a:t>
            </a:r>
            <a:endParaRPr lang="en-US" sz="1700" dirty="0"/>
          </a:p>
        </p:txBody>
      </p:sp>
      <p:sp>
        <p:nvSpPr>
          <p:cNvPr id="13" name="Text 9"/>
          <p:cNvSpPr txBox="1"/>
          <p:nvPr/>
        </p:nvSpPr>
        <p:spPr>
          <a:xfrm>
            <a:off x="4480560" y="2834640"/>
            <a:ext cx="3154680" cy="822960"/>
          </a:xfrm>
          <a:prstGeom prst="rect">
            <a:avLst/>
          </a:prstGeom>
          <a:noFill/>
          <a:ln/>
        </p:spPr>
        <p:txBody>
          <a:bodyPr wrap="square" lIns="0" tIns="0" rIns="0" bIns="0" rtlCol="0" anchor="ctr"/>
          <a:lstStyle/>
          <a:p>
            <a:pPr algn="ctr" indent="0" marL="0">
              <a:lnSpc>
                <a:spcPct val="115000"/>
              </a:lnSpc>
              <a:buNone/>
            </a:pPr>
            <a:r>
              <a:rPr lang="en-US" sz="4400" b="1" dirty="0">
                <a:solidFill>
                  <a:schemeClr val="accent1"/>
                </a:solidFill>
              </a:rPr>
              <a:t>3日間</a:t>
            </a:r>
            <a:endParaRPr lang="en-US" sz="4400" dirty="0"/>
          </a:p>
        </p:txBody>
      </p:sp>
      <p:sp>
        <p:nvSpPr>
          <p:cNvPr id="14" name="Text 10"/>
          <p:cNvSpPr txBox="1"/>
          <p:nvPr/>
        </p:nvSpPr>
        <p:spPr>
          <a:xfrm>
            <a:off x="4572000" y="3794760"/>
            <a:ext cx="2971800" cy="1463040"/>
          </a:xfrm>
          <a:prstGeom prst="rect">
            <a:avLst/>
          </a:prstGeom>
          <a:noFill/>
          <a:ln/>
        </p:spPr>
        <p:txBody>
          <a:bodyPr wrap="square" lIns="0" tIns="0" rIns="0" bIns="0" rtlCol="0" anchor="t"/>
          <a:lstStyle/>
          <a:p>
            <a:pPr indent="0" marL="0">
              <a:lnSpc>
                <a:spcPct val="115000"/>
              </a:lnSpc>
              <a:buNone/>
            </a:pPr>
            <a:r>
              <a:rPr lang="en-US" sz="1350" dirty="0">
                <a:solidFill>
                  <a:schemeClr val="tx1"/>
                </a:solidFill>
              </a:rPr>
              <a:t>年間休日とは別に設けている休暇です。</a:t>
            </a:r>
            <a:endParaRPr lang="en-US" sz="1350" dirty="0"/>
          </a:p>
          <a:p>
            <a:pPr indent="0" marL="0">
              <a:lnSpc>
                <a:spcPct val="115000"/>
              </a:lnSpc>
              <a:buNone/>
            </a:pPr>
            <a:r>
              <a:rPr lang="en-US" sz="1350" dirty="0">
                <a:solidFill>
                  <a:schemeClr val="tx1"/>
                </a:solidFill>
              </a:rPr>
              <a:t>取得条件・時期</a:t>
            </a:r>
            <a:pPr indent="0" marL="0">
              <a:lnSpc>
                <a:spcPct val="115000"/>
              </a:lnSpc>
              <a:buNone/>
            </a:pPr>
            <a:r>
              <a:rPr lang="en-US" sz="1350" b="1" dirty="0">
                <a:solidFill>
                  <a:schemeClr val="accent6"/>
                </a:solidFill>
              </a:rPr>
              <a:t>［要確認］</a:t>
            </a:r>
            <a:endParaRPr lang="en-US" sz="1350" dirty="0"/>
          </a:p>
        </p:txBody>
      </p:sp>
      <p:sp>
        <p:nvSpPr>
          <p:cNvPr id="15" name="benefit 3"/>
          <p:cNvSpPr/>
          <p:nvPr/>
        </p:nvSpPr>
        <p:spPr>
          <a:xfrm>
            <a:off x="8046720" y="1371600"/>
            <a:ext cx="3520440" cy="4023360"/>
          </a:xfrm>
          <a:prstGeom prst="roundRect">
            <a:avLst>
              <a:gd name="adj" fmla="val 3117"/>
            </a:avLst>
          </a:prstGeom>
          <a:solidFill>
            <a:schemeClr val="bg2"/>
          </a:solidFill>
          <a:ln/>
        </p:spPr>
      </p:sp>
      <p:sp>
        <p:nvSpPr>
          <p:cNvPr id="16" name="Shape 12"/>
          <p:cNvSpPr/>
          <p:nvPr/>
        </p:nvSpPr>
        <p:spPr>
          <a:xfrm>
            <a:off x="9390888" y="1600200"/>
            <a:ext cx="822960" cy="724205"/>
          </a:xfrm>
          <a:prstGeom prst="hexagon">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9604858" y="1764792"/>
            <a:ext cx="395021" cy="395021"/>
          </a:xfrm>
          <a:prstGeom prst="rect">
            <a:avLst/>
          </a:prstGeom>
        </p:spPr>
      </p:pic>
      <p:sp>
        <p:nvSpPr>
          <p:cNvPr id="18" name="Text 13"/>
          <p:cNvSpPr txBox="1"/>
          <p:nvPr/>
        </p:nvSpPr>
        <p:spPr>
          <a:xfrm>
            <a:off x="8229600" y="2468880"/>
            <a:ext cx="3154680" cy="365760"/>
          </a:xfrm>
          <a:prstGeom prst="rect">
            <a:avLst/>
          </a:prstGeom>
          <a:noFill/>
          <a:ln/>
        </p:spPr>
        <p:txBody>
          <a:bodyPr wrap="square" lIns="0" tIns="0" rIns="0" bIns="0" rtlCol="0" anchor="t"/>
          <a:lstStyle/>
          <a:p>
            <a:pPr algn="ctr" indent="0" marL="0">
              <a:lnSpc>
                <a:spcPct val="115000"/>
              </a:lnSpc>
              <a:buNone/>
            </a:pPr>
            <a:r>
              <a:rPr lang="en-US" sz="1700" b="1" dirty="0">
                <a:solidFill>
                  <a:schemeClr val="tx2"/>
                </a:solidFill>
              </a:rPr>
              <a:t>研修費補助制度</a:t>
            </a:r>
            <a:endParaRPr lang="en-US" sz="1700" dirty="0"/>
          </a:p>
        </p:txBody>
      </p:sp>
      <p:sp>
        <p:nvSpPr>
          <p:cNvPr id="19" name="Text 14"/>
          <p:cNvSpPr txBox="1"/>
          <p:nvPr/>
        </p:nvSpPr>
        <p:spPr>
          <a:xfrm>
            <a:off x="8229600" y="2834640"/>
            <a:ext cx="3154680" cy="822960"/>
          </a:xfrm>
          <a:prstGeom prst="rect">
            <a:avLst/>
          </a:prstGeom>
          <a:noFill/>
          <a:ln/>
        </p:spPr>
        <p:txBody>
          <a:bodyPr wrap="square" lIns="0" tIns="0" rIns="0" bIns="0" rtlCol="0" anchor="ctr"/>
          <a:lstStyle/>
          <a:p>
            <a:pPr algn="ctr" indent="0" marL="0">
              <a:lnSpc>
                <a:spcPct val="115000"/>
              </a:lnSpc>
              <a:buNone/>
            </a:pPr>
            <a:r>
              <a:rPr lang="en-US" sz="3200" b="1" dirty="0">
                <a:solidFill>
                  <a:schemeClr val="accent1"/>
                </a:solidFill>
              </a:rPr>
              <a:t>学びを支援</a:t>
            </a:r>
            <a:endParaRPr lang="en-US" sz="3200" dirty="0"/>
          </a:p>
        </p:txBody>
      </p:sp>
      <p:sp>
        <p:nvSpPr>
          <p:cNvPr id="20" name="Text 15"/>
          <p:cNvSpPr txBox="1"/>
          <p:nvPr/>
        </p:nvSpPr>
        <p:spPr>
          <a:xfrm>
            <a:off x="8321040" y="3794760"/>
            <a:ext cx="2971800" cy="1463040"/>
          </a:xfrm>
          <a:prstGeom prst="rect">
            <a:avLst/>
          </a:prstGeom>
          <a:noFill/>
          <a:ln/>
        </p:spPr>
        <p:txBody>
          <a:bodyPr wrap="square" lIns="0" tIns="0" rIns="0" bIns="0" rtlCol="0" anchor="t"/>
          <a:lstStyle/>
          <a:p>
            <a:pPr indent="0" marL="0">
              <a:lnSpc>
                <a:spcPct val="115000"/>
              </a:lnSpc>
              <a:buNone/>
            </a:pPr>
            <a:r>
              <a:rPr lang="en-US" sz="1350" dirty="0">
                <a:solidFill>
                  <a:schemeClr val="tx1"/>
                </a:solidFill>
              </a:rPr>
              <a:t>ケアマネジャーとして学び続けるための研修受講を補助します。</a:t>
            </a:r>
            <a:endParaRPr lang="en-US" sz="1350" dirty="0"/>
          </a:p>
          <a:p>
            <a:pPr indent="0" marL="0">
              <a:lnSpc>
                <a:spcPct val="115000"/>
              </a:lnSpc>
              <a:buNone/>
            </a:pPr>
            <a:r>
              <a:rPr lang="en-US" sz="1350" dirty="0">
                <a:solidFill>
                  <a:schemeClr val="tx1"/>
                </a:solidFill>
              </a:rPr>
              <a:t>対象研修・補助の範囲</a:t>
            </a:r>
            <a:pPr indent="0" marL="0">
              <a:lnSpc>
                <a:spcPct val="115000"/>
              </a:lnSpc>
              <a:buNone/>
            </a:pPr>
            <a:r>
              <a:rPr lang="en-US" sz="1350" b="1" dirty="0">
                <a:solidFill>
                  <a:schemeClr val="accent6"/>
                </a:solidFill>
              </a:rPr>
              <a:t>［要確認］</a:t>
            </a:r>
            <a:endParaRPr lang="en-US" sz="1350" dirty="0"/>
          </a:p>
        </p:txBody>
      </p:sp>
      <p:sp>
        <p:nvSpPr>
          <p:cNvPr id="21" name="holiday note"/>
          <p:cNvSpPr/>
          <p:nvPr/>
        </p:nvSpPr>
        <p:spPr>
          <a:xfrm>
            <a:off x="548640" y="5577840"/>
            <a:ext cx="11109960" cy="502920"/>
          </a:xfrm>
          <a:prstGeom prst="roundRect">
            <a:avLst>
              <a:gd name="adj" fmla="val 21818"/>
            </a:avLst>
          </a:prstGeom>
          <a:solidFill>
            <a:schemeClr val="accent3"/>
          </a:solidFill>
          <a:ln/>
        </p:spPr>
      </p:sp>
      <p:sp>
        <p:nvSpPr>
          <p:cNvPr id="22" name="Text 17"/>
          <p:cNvSpPr txBox="1"/>
          <p:nvPr/>
        </p:nvSpPr>
        <p:spPr>
          <a:xfrm>
            <a:off x="777240" y="5577840"/>
            <a:ext cx="10698480" cy="502920"/>
          </a:xfrm>
          <a:prstGeom prst="rect">
            <a:avLst/>
          </a:prstGeom>
          <a:noFill/>
          <a:ln/>
        </p:spPr>
        <p:txBody>
          <a:bodyPr wrap="square" lIns="0" tIns="0" rIns="0" bIns="0" rtlCol="0" anchor="ctr"/>
          <a:lstStyle/>
          <a:p>
            <a:pPr indent="0" marL="0">
              <a:lnSpc>
                <a:spcPct val="115000"/>
              </a:lnSpc>
              <a:buNone/>
            </a:pPr>
            <a:r>
              <a:rPr lang="en-US" sz="1400" dirty="0">
                <a:solidFill>
                  <a:schemeClr val="tx2"/>
                </a:solidFill>
              </a:rPr>
              <a:t>年間休日（121日以上）とリフレッシュ休暇（3日間）は別の制度として記載しています。</a:t>
            </a:r>
            <a:endParaRPr lang="en-US" sz="1400" dirty="0"/>
          </a:p>
        </p:txBody>
      </p:sp>
      <p:sp>
        <p:nvSpPr>
          <p:cNvPr id="25" name="Slide Number Placeholder 0"/>
          <p:cNvSpPr>
            <a:spLocks noGrp="1"/>
          </p:cNvSpPr>
          <p:nvPr>
            <p:ph type="sldNum" sz="quarter" idx="4294967295"/>
          </p:nvPr>
        </p:nvSpPr>
        <p:spPr>
          <a:xfrm>
            <a:off x="548640" y="635508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1"/>
                </a:solidFill>
              </a:defRPr>
            </a:lvl1pPr>
          </a:lstStyle>
          <a:p>
            <a:pPr algn="l"/>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これから一緒につくりたい職場</a:t>
            </a:r>
            <a:endParaRPr lang="en-US" sz="3000" dirty="0"/>
          </a:p>
        </p:txBody>
      </p:sp>
      <p:sp>
        <p:nvSpPr>
          <p:cNvPr id="3" name="now card"/>
          <p:cNvSpPr/>
          <p:nvPr/>
        </p:nvSpPr>
        <p:spPr>
          <a:xfrm>
            <a:off x="548640" y="1325880"/>
            <a:ext cx="3931920" cy="4069080"/>
          </a:xfrm>
          <a:prstGeom prst="roundRect">
            <a:avLst>
              <a:gd name="adj" fmla="val 2791"/>
            </a:avLst>
          </a:prstGeom>
          <a:solidFill>
            <a:schemeClr val="bg2"/>
          </a:solidFill>
          <a:ln/>
        </p:spPr>
      </p:sp>
      <p:sp>
        <p:nvSpPr>
          <p:cNvPr id="4" name="Text 2"/>
          <p:cNvSpPr txBox="1"/>
          <p:nvPr/>
        </p:nvSpPr>
        <p:spPr>
          <a:xfrm>
            <a:off x="777240" y="1481328"/>
            <a:ext cx="3566160" cy="365760"/>
          </a:xfrm>
          <a:prstGeom prst="rect">
            <a:avLst/>
          </a:prstGeom>
          <a:noFill/>
          <a:ln/>
        </p:spPr>
        <p:txBody>
          <a:bodyPr wrap="square" lIns="0" tIns="0" rIns="0" bIns="0" rtlCol="0" anchor="t"/>
          <a:lstStyle/>
          <a:p>
            <a:pPr indent="0" marL="0">
              <a:lnSpc>
                <a:spcPct val="115000"/>
              </a:lnSpc>
              <a:buNone/>
            </a:pPr>
            <a:r>
              <a:rPr lang="en-US" sz="1600" b="1" dirty="0">
                <a:solidFill>
                  <a:schemeClr val="tx2"/>
                </a:solidFill>
              </a:rPr>
              <a:t>いま、ある制度・取り組み</a:t>
            </a:r>
            <a:endParaRPr lang="en-US" sz="1600" dirty="0"/>
          </a:p>
        </p:txBody>
      </p:sp>
      <p:sp>
        <p:nvSpPr>
          <p:cNvPr id="5" name="Text 3"/>
          <p:cNvSpPr txBox="1"/>
          <p:nvPr/>
        </p:nvSpPr>
        <p:spPr>
          <a:xfrm>
            <a:off x="777240" y="1965960"/>
            <a:ext cx="3520440" cy="274320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en-US" sz="1400" dirty="0">
                <a:solidFill>
                  <a:schemeClr val="tx1"/>
                </a:solidFill>
              </a:rPr>
              <a:t>年間休日121日以上</a:t>
            </a:r>
            <a:endParaRPr lang="en-US" sz="1400" dirty="0"/>
          </a:p>
          <a:p>
            <a:pPr marL="203200" indent="-203200">
              <a:lnSpc>
                <a:spcPct val="110000"/>
              </a:lnSpc>
              <a:spcAft>
                <a:spcPts val="800"/>
              </a:spcAft>
              <a:buSzPct val="100000"/>
              <a:buChar char="•"/>
            </a:pPr>
            <a:r>
              <a:rPr lang="en-US" sz="1400" dirty="0">
                <a:solidFill>
                  <a:schemeClr val="tx1"/>
                </a:solidFill>
              </a:rPr>
              <a:t>リフレッシュ休暇3日間</a:t>
            </a:r>
            <a:endParaRPr lang="en-US" sz="1400" dirty="0"/>
          </a:p>
          <a:p>
            <a:pPr marL="203200" indent="-203200">
              <a:lnSpc>
                <a:spcPct val="110000"/>
              </a:lnSpc>
              <a:spcAft>
                <a:spcPts val="800"/>
              </a:spcAft>
              <a:buSzPct val="100000"/>
              <a:buChar char="•"/>
            </a:pPr>
            <a:r>
              <a:rPr lang="en-US" sz="1400" dirty="0">
                <a:solidFill>
                  <a:schemeClr val="tx1"/>
                </a:solidFill>
              </a:rPr>
              <a:t>パソコン・スマートフォン・タブレット、社有車の貸与</a:t>
            </a:r>
            <a:endParaRPr lang="en-US" sz="1400" dirty="0"/>
          </a:p>
          <a:p>
            <a:pPr marL="203200" indent="-203200">
              <a:lnSpc>
                <a:spcPct val="110000"/>
              </a:lnSpc>
              <a:spcAft>
                <a:spcPts val="800"/>
              </a:spcAft>
              <a:buSzPct val="100000"/>
              <a:buChar char="•"/>
            </a:pPr>
            <a:r>
              <a:rPr lang="en-US" sz="1400" dirty="0">
                <a:solidFill>
                  <a:schemeClr val="tx1"/>
                </a:solidFill>
              </a:rPr>
              <a:t>研修費補助制度</a:t>
            </a:r>
            <a:endParaRPr lang="en-US" sz="1400" dirty="0"/>
          </a:p>
          <a:p>
            <a:pPr marL="203200" indent="-203200">
              <a:lnSpc>
                <a:spcPct val="110000"/>
              </a:lnSpc>
              <a:spcAft>
                <a:spcPts val="800"/>
              </a:spcAft>
              <a:buSzPct val="100000"/>
              <a:buChar char="•"/>
            </a:pPr>
            <a:r>
              <a:rPr lang="en-US" sz="1400" dirty="0">
                <a:solidFill>
                  <a:schemeClr val="tx1"/>
                </a:solidFill>
              </a:rPr>
              <a:t>経験豊富なケアマネジャーに相談できる体制</a:t>
            </a:r>
            <a:endParaRPr lang="en-US" sz="1400" dirty="0"/>
          </a:p>
        </p:txBody>
      </p:sp>
      <p:sp>
        <p:nvSpPr>
          <p:cNvPr id="6" name="Text 4"/>
          <p:cNvSpPr txBox="1"/>
          <p:nvPr/>
        </p:nvSpPr>
        <p:spPr>
          <a:xfrm>
            <a:off x="777240" y="4892040"/>
            <a:ext cx="3520440" cy="320040"/>
          </a:xfrm>
          <a:prstGeom prst="rect">
            <a:avLst/>
          </a:prstGeom>
          <a:noFill/>
          <a:ln/>
        </p:spPr>
        <p:txBody>
          <a:bodyPr wrap="square" lIns="0" tIns="0" rIns="0" bIns="0" rtlCol="0" anchor="t"/>
          <a:lstStyle/>
          <a:p>
            <a:pPr indent="0" marL="0">
              <a:lnSpc>
                <a:spcPct val="115000"/>
              </a:lnSpc>
              <a:buNone/>
            </a:pPr>
            <a:r>
              <a:rPr lang="en-US" sz="1200" dirty="0">
                <a:solidFill>
                  <a:schemeClr val="accent5"/>
                </a:solidFill>
              </a:rPr>
              <a:t>※適用条件は</a:t>
            </a:r>
            <a:pPr indent="0" marL="0">
              <a:lnSpc>
                <a:spcPct val="115000"/>
              </a:lnSpc>
              <a:buNone/>
            </a:pPr>
            <a:r>
              <a:rPr lang="en-US" sz="1200" b="1" dirty="0">
                <a:solidFill>
                  <a:schemeClr val="accent6"/>
                </a:solidFill>
              </a:rPr>
              <a:t>［要確認］</a:t>
            </a:r>
            <a:endParaRPr lang="en-US" sz="1200" dirty="0"/>
          </a:p>
        </p:txBody>
      </p:sp>
      <p:sp>
        <p:nvSpPr>
          <p:cNvPr id="7" name="Text 5"/>
          <p:cNvSpPr txBox="1"/>
          <p:nvPr/>
        </p:nvSpPr>
        <p:spPr>
          <a:xfrm>
            <a:off x="4800600" y="1325880"/>
            <a:ext cx="6858000" cy="365760"/>
          </a:xfrm>
          <a:prstGeom prst="rect">
            <a:avLst/>
          </a:prstGeom>
          <a:noFill/>
          <a:ln/>
        </p:spPr>
        <p:txBody>
          <a:bodyPr wrap="square" lIns="0" tIns="0" rIns="0" bIns="0" rtlCol="0" anchor="t"/>
          <a:lstStyle/>
          <a:p>
            <a:pPr indent="0" marL="0">
              <a:lnSpc>
                <a:spcPct val="115000"/>
              </a:lnSpc>
              <a:buNone/>
            </a:pPr>
            <a:r>
              <a:rPr lang="en-US" sz="1600" b="1" dirty="0">
                <a:solidFill>
                  <a:schemeClr val="accent1"/>
                </a:solidFill>
              </a:rPr>
              <a:t>これから目指す姿</a:t>
            </a:r>
            <a:endParaRPr lang="en-US" sz="1600" dirty="0"/>
          </a:p>
        </p:txBody>
      </p:sp>
      <p:sp>
        <p:nvSpPr>
          <p:cNvPr id="8" name="Text 6"/>
          <p:cNvSpPr txBox="1"/>
          <p:nvPr/>
        </p:nvSpPr>
        <p:spPr>
          <a:xfrm>
            <a:off x="4800600" y="1691640"/>
            <a:ext cx="6858000" cy="594360"/>
          </a:xfrm>
          <a:prstGeom prst="rect">
            <a:avLst/>
          </a:prstGeom>
          <a:noFill/>
          <a:ln/>
        </p:spPr>
        <p:txBody>
          <a:bodyPr wrap="square" lIns="0" tIns="0" rIns="0" bIns="0" rtlCol="0" anchor="t"/>
          <a:lstStyle/>
          <a:p>
            <a:pPr indent="0" marL="0">
              <a:lnSpc>
                <a:spcPct val="115000"/>
              </a:lnSpc>
              <a:buNone/>
            </a:pPr>
            <a:r>
              <a:rPr lang="en-US" sz="1350" dirty="0">
                <a:solidFill>
                  <a:schemeClr val="accent5"/>
                </a:solidFill>
              </a:rPr>
              <a:t>まだ完成した形ではありません。働く一人ひとりの声を聞きながら、一緒につくっていきたい職場の姿です。</a:t>
            </a:r>
            <a:endParaRPr lang="en-US" sz="1350" dirty="0"/>
          </a:p>
        </p:txBody>
      </p:sp>
      <p:sp>
        <p:nvSpPr>
          <p:cNvPr id="9" name="goal 1"/>
          <p:cNvSpPr/>
          <p:nvPr/>
        </p:nvSpPr>
        <p:spPr>
          <a:xfrm>
            <a:off x="4800600" y="2395728"/>
            <a:ext cx="457200" cy="402336"/>
          </a:xfrm>
          <a:prstGeom prst="hexagon">
            <a:avLst/>
          </a:prstGeom>
          <a:solidFill>
            <a:schemeClr val="accent1"/>
          </a:solidFill>
          <a:ln/>
        </p:spPr>
      </p:sp>
      <p:sp>
        <p:nvSpPr>
          <p:cNvPr id="10" name="Text 8"/>
          <p:cNvSpPr txBox="1"/>
          <p:nvPr/>
        </p:nvSpPr>
        <p:spPr>
          <a:xfrm>
            <a:off x="4800600" y="2395728"/>
            <a:ext cx="457200" cy="402336"/>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9"/>
          <p:cNvSpPr txBox="1"/>
          <p:nvPr/>
        </p:nvSpPr>
        <p:spPr>
          <a:xfrm>
            <a:off x="5440680" y="2377440"/>
            <a:ext cx="6217920" cy="438912"/>
          </a:xfrm>
          <a:prstGeom prst="rect">
            <a:avLst/>
          </a:prstGeom>
          <a:noFill/>
          <a:ln/>
        </p:spPr>
        <p:txBody>
          <a:bodyPr wrap="square" lIns="0" tIns="0" rIns="0" bIns="0" rtlCol="0" anchor="ctr"/>
          <a:lstStyle/>
          <a:p>
            <a:pPr indent="0" marL="0">
              <a:lnSpc>
                <a:spcPct val="115000"/>
              </a:lnSpc>
              <a:buNone/>
            </a:pPr>
            <a:r>
              <a:rPr lang="en-US" sz="1550" dirty="0">
                <a:solidFill>
                  <a:schemeClr val="tx1"/>
                </a:solidFill>
              </a:rPr>
              <a:t>利用者だけでなく、働く職員の健康と幸せも大切にする</a:t>
            </a:r>
            <a:endParaRPr lang="en-US" sz="1550" dirty="0"/>
          </a:p>
        </p:txBody>
      </p:sp>
      <p:sp>
        <p:nvSpPr>
          <p:cNvPr id="12" name="goal 2"/>
          <p:cNvSpPr/>
          <p:nvPr/>
        </p:nvSpPr>
        <p:spPr>
          <a:xfrm>
            <a:off x="4800600" y="2999232"/>
            <a:ext cx="457200" cy="402336"/>
          </a:xfrm>
          <a:prstGeom prst="hexagon">
            <a:avLst/>
          </a:prstGeom>
          <a:solidFill>
            <a:schemeClr val="accent2"/>
          </a:solidFill>
          <a:ln/>
        </p:spPr>
      </p:sp>
      <p:sp>
        <p:nvSpPr>
          <p:cNvPr id="13" name="Text 11"/>
          <p:cNvSpPr txBox="1"/>
          <p:nvPr/>
        </p:nvSpPr>
        <p:spPr>
          <a:xfrm>
            <a:off x="4800600" y="2999232"/>
            <a:ext cx="457200" cy="402336"/>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2"/>
          <p:cNvSpPr txBox="1"/>
          <p:nvPr/>
        </p:nvSpPr>
        <p:spPr>
          <a:xfrm>
            <a:off x="5440680" y="2980944"/>
            <a:ext cx="6217920" cy="438912"/>
          </a:xfrm>
          <a:prstGeom prst="rect">
            <a:avLst/>
          </a:prstGeom>
          <a:noFill/>
          <a:ln/>
        </p:spPr>
        <p:txBody>
          <a:bodyPr wrap="square" lIns="0" tIns="0" rIns="0" bIns="0" rtlCol="0" anchor="ctr"/>
          <a:lstStyle/>
          <a:p>
            <a:pPr indent="0" marL="0">
              <a:lnSpc>
                <a:spcPct val="115000"/>
              </a:lnSpc>
              <a:buNone/>
            </a:pPr>
            <a:r>
              <a:rPr lang="en-US" sz="1550" dirty="0">
                <a:solidFill>
                  <a:schemeClr val="tx1"/>
                </a:solidFill>
              </a:rPr>
              <a:t>一人ひとりの専門性や自分らしさを生かす</a:t>
            </a:r>
            <a:endParaRPr lang="en-US" sz="1550" dirty="0"/>
          </a:p>
        </p:txBody>
      </p:sp>
      <p:sp>
        <p:nvSpPr>
          <p:cNvPr id="15" name="goal 3"/>
          <p:cNvSpPr/>
          <p:nvPr/>
        </p:nvSpPr>
        <p:spPr>
          <a:xfrm>
            <a:off x="4800600" y="3602736"/>
            <a:ext cx="457200" cy="402336"/>
          </a:xfrm>
          <a:prstGeom prst="hexagon">
            <a:avLst/>
          </a:prstGeom>
          <a:solidFill>
            <a:schemeClr val="accent1"/>
          </a:solidFill>
          <a:ln/>
        </p:spPr>
      </p:sp>
      <p:sp>
        <p:nvSpPr>
          <p:cNvPr id="16" name="Text 14"/>
          <p:cNvSpPr txBox="1"/>
          <p:nvPr/>
        </p:nvSpPr>
        <p:spPr>
          <a:xfrm>
            <a:off x="4800600" y="3602736"/>
            <a:ext cx="457200" cy="402336"/>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5"/>
          <p:cNvSpPr txBox="1"/>
          <p:nvPr/>
        </p:nvSpPr>
        <p:spPr>
          <a:xfrm>
            <a:off x="5440680" y="3584448"/>
            <a:ext cx="6217920" cy="438912"/>
          </a:xfrm>
          <a:prstGeom prst="rect">
            <a:avLst/>
          </a:prstGeom>
          <a:noFill/>
          <a:ln/>
        </p:spPr>
        <p:txBody>
          <a:bodyPr wrap="square" lIns="0" tIns="0" rIns="0" bIns="0" rtlCol="0" anchor="ctr"/>
          <a:lstStyle/>
          <a:p>
            <a:pPr indent="0" marL="0">
              <a:lnSpc>
                <a:spcPct val="115000"/>
              </a:lnSpc>
              <a:buNone/>
            </a:pPr>
            <a:r>
              <a:rPr lang="en-US" sz="1550" dirty="0">
                <a:solidFill>
                  <a:schemeClr val="tx1"/>
                </a:solidFill>
              </a:rPr>
              <a:t>困ったときに相談し、助け合える</a:t>
            </a:r>
            <a:endParaRPr lang="en-US" sz="1550" dirty="0"/>
          </a:p>
        </p:txBody>
      </p:sp>
      <p:sp>
        <p:nvSpPr>
          <p:cNvPr id="18" name="goal 4"/>
          <p:cNvSpPr/>
          <p:nvPr/>
        </p:nvSpPr>
        <p:spPr>
          <a:xfrm>
            <a:off x="4800600" y="4206240"/>
            <a:ext cx="457200" cy="402336"/>
          </a:xfrm>
          <a:prstGeom prst="hexagon">
            <a:avLst/>
          </a:prstGeom>
          <a:solidFill>
            <a:schemeClr val="accent2"/>
          </a:solidFill>
          <a:ln/>
        </p:spPr>
      </p:sp>
      <p:sp>
        <p:nvSpPr>
          <p:cNvPr id="19" name="Text 17"/>
          <p:cNvSpPr txBox="1"/>
          <p:nvPr/>
        </p:nvSpPr>
        <p:spPr>
          <a:xfrm>
            <a:off x="4800600" y="4206240"/>
            <a:ext cx="457200" cy="402336"/>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0" name="Text 18"/>
          <p:cNvSpPr txBox="1"/>
          <p:nvPr/>
        </p:nvSpPr>
        <p:spPr>
          <a:xfrm>
            <a:off x="5440680" y="4187952"/>
            <a:ext cx="6217920" cy="438912"/>
          </a:xfrm>
          <a:prstGeom prst="rect">
            <a:avLst/>
          </a:prstGeom>
          <a:noFill/>
          <a:ln/>
        </p:spPr>
        <p:txBody>
          <a:bodyPr wrap="square" lIns="0" tIns="0" rIns="0" bIns="0" rtlCol="0" anchor="ctr"/>
          <a:lstStyle/>
          <a:p>
            <a:pPr indent="0" marL="0">
              <a:lnSpc>
                <a:spcPct val="115000"/>
              </a:lnSpc>
              <a:buNone/>
            </a:pPr>
            <a:r>
              <a:rPr lang="en-US" sz="1550" dirty="0">
                <a:solidFill>
                  <a:schemeClr val="tx1"/>
                </a:solidFill>
              </a:rPr>
              <a:t>現場の意見を生かし、より良い支援や働き方をつくる</a:t>
            </a:r>
            <a:endParaRPr lang="en-US" sz="1550" dirty="0"/>
          </a:p>
        </p:txBody>
      </p:sp>
      <p:sp>
        <p:nvSpPr>
          <p:cNvPr id="21" name="goal 5"/>
          <p:cNvSpPr/>
          <p:nvPr/>
        </p:nvSpPr>
        <p:spPr>
          <a:xfrm>
            <a:off x="4800600" y="4809744"/>
            <a:ext cx="457200" cy="402336"/>
          </a:xfrm>
          <a:prstGeom prst="hexagon">
            <a:avLst/>
          </a:prstGeom>
          <a:solidFill>
            <a:schemeClr val="accent1"/>
          </a:solidFill>
          <a:ln/>
        </p:spPr>
      </p:sp>
      <p:sp>
        <p:nvSpPr>
          <p:cNvPr id="22" name="Text 20"/>
          <p:cNvSpPr txBox="1"/>
          <p:nvPr/>
        </p:nvSpPr>
        <p:spPr>
          <a:xfrm>
            <a:off x="4800600" y="4809744"/>
            <a:ext cx="457200" cy="402336"/>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3" name="Text 21"/>
          <p:cNvSpPr txBox="1"/>
          <p:nvPr/>
        </p:nvSpPr>
        <p:spPr>
          <a:xfrm>
            <a:off x="5440680" y="4791456"/>
            <a:ext cx="6217920" cy="438912"/>
          </a:xfrm>
          <a:prstGeom prst="rect">
            <a:avLst/>
          </a:prstGeom>
          <a:noFill/>
          <a:ln/>
        </p:spPr>
        <p:txBody>
          <a:bodyPr wrap="square" lIns="0" tIns="0" rIns="0" bIns="0" rtlCol="0" anchor="ctr"/>
          <a:lstStyle/>
          <a:p>
            <a:pPr indent="0" marL="0">
              <a:lnSpc>
                <a:spcPct val="115000"/>
              </a:lnSpc>
              <a:buNone/>
            </a:pPr>
            <a:r>
              <a:rPr lang="en-US" sz="1550" dirty="0">
                <a:solidFill>
                  <a:schemeClr val="tx1"/>
                </a:solidFill>
              </a:rPr>
              <a:t>自分で考え、仲間と協力して行動できる</a:t>
            </a:r>
            <a:endParaRPr lang="en-US" sz="1550" dirty="0"/>
          </a:p>
        </p:txBody>
      </p:sp>
      <p:sp>
        <p:nvSpPr>
          <p:cNvPr id="24" name="autonomy note"/>
          <p:cNvSpPr/>
          <p:nvPr/>
        </p:nvSpPr>
        <p:spPr>
          <a:xfrm>
            <a:off x="548640" y="5532120"/>
            <a:ext cx="11109960" cy="594360"/>
          </a:xfrm>
          <a:prstGeom prst="roundRect">
            <a:avLst>
              <a:gd name="adj" fmla="val 18462"/>
            </a:avLst>
          </a:prstGeom>
          <a:solidFill>
            <a:schemeClr val="accent1"/>
          </a:solidFill>
          <a:ln/>
        </p:spPr>
      </p:sp>
      <p:sp>
        <p:nvSpPr>
          <p:cNvPr id="25" name="Text 23"/>
          <p:cNvSpPr txBox="1"/>
          <p:nvPr/>
        </p:nvSpPr>
        <p:spPr>
          <a:xfrm>
            <a:off x="777240" y="5532120"/>
            <a:ext cx="10698480" cy="594360"/>
          </a:xfrm>
          <a:prstGeom prst="rect">
            <a:avLst/>
          </a:prstGeom>
          <a:noFill/>
          <a:ln/>
        </p:spPr>
        <p:txBody>
          <a:bodyPr wrap="square" lIns="0" tIns="0" rIns="0" bIns="0" rtlCol="0" anchor="ctr"/>
          <a:lstStyle/>
          <a:p>
            <a:pPr indent="0" marL="0">
              <a:buNone/>
            </a:pPr>
            <a:r>
              <a:rPr lang="en-US" sz="1400" b="1" dirty="0">
                <a:solidFill>
                  <a:srgbClr val="FFFFFF"/>
                </a:solidFill>
              </a:rPr>
              <a:t>私たちの考える「自律」　</a:t>
            </a:r>
            <a:pPr indent="0" marL="0">
              <a:buNone/>
            </a:pPr>
            <a:r>
              <a:rPr lang="en-US" sz="1400" dirty="0">
                <a:solidFill>
                  <a:srgbClr val="FFFFFF"/>
                </a:solidFill>
              </a:rPr>
              <a:t>一人ですべてを背負うことではなく、自分で考え、迷ったら相談し、仲間と協力して動くことです。</a:t>
            </a:r>
            <a:endParaRPr lang="en-US" sz="1400" dirty="0"/>
          </a:p>
        </p:txBody>
      </p:sp>
      <p:sp>
        <p:nvSpPr>
          <p:cNvPr id="25" name="Slide Number Placeholder 0"/>
          <p:cNvSpPr>
            <a:spLocks noGrp="1"/>
          </p:cNvSpPr>
          <p:nvPr>
            <p:ph type="sldNum" sz="quarter" idx="4294967295"/>
          </p:nvPr>
        </p:nvSpPr>
        <p:spPr>
          <a:xfrm>
            <a:off x="548640" y="635508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1"/>
                </a:solidFill>
              </a:defRPr>
            </a:lvl1pPr>
          </a:lstStyle>
          <a:p>
            <a:pPr algn="l"/>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こんな思いのある方と働きたい</a:t>
            </a:r>
            <a:endParaRPr lang="en-US" sz="3000" dirty="0"/>
          </a:p>
        </p:txBody>
      </p:sp>
      <p:sp>
        <p:nvSpPr>
          <p:cNvPr id="3" name="Text 1"/>
          <p:cNvSpPr txBox="1"/>
          <p:nvPr/>
        </p:nvSpPr>
        <p:spPr>
          <a:xfrm>
            <a:off x="548640" y="1234440"/>
            <a:ext cx="11064240" cy="411480"/>
          </a:xfrm>
          <a:prstGeom prst="rect">
            <a:avLst/>
          </a:prstGeom>
          <a:noFill/>
          <a:ln/>
        </p:spPr>
        <p:txBody>
          <a:bodyPr wrap="square" lIns="0" tIns="0" rIns="0" bIns="0" rtlCol="0" anchor="t"/>
          <a:lstStyle/>
          <a:p>
            <a:pPr indent="0" marL="0">
              <a:lnSpc>
                <a:spcPct val="115000"/>
              </a:lnSpc>
              <a:buNone/>
            </a:pPr>
            <a:r>
              <a:rPr lang="en-US" sz="1800" b="1" dirty="0">
                <a:solidFill>
                  <a:schemeClr val="accent1"/>
                </a:solidFill>
              </a:rPr>
              <a:t>次のような思いに、ひとつでも共感するところがあれば、ぜひお話ししましょう。</a:t>
            </a:r>
            <a:endParaRPr lang="en-US" sz="1800" dirty="0"/>
          </a:p>
        </p:txBody>
      </p:sp>
      <p:sp>
        <p:nvSpPr>
          <p:cNvPr id="4" name="persona 1"/>
          <p:cNvSpPr/>
          <p:nvPr/>
        </p:nvSpPr>
        <p:spPr>
          <a:xfrm>
            <a:off x="548640" y="1874520"/>
            <a:ext cx="2075688" cy="3657600"/>
          </a:xfrm>
          <a:prstGeom prst="roundRect">
            <a:avLst>
              <a:gd name="adj" fmla="val 5286"/>
            </a:avLst>
          </a:prstGeom>
          <a:solidFill>
            <a:schemeClr val="bg2"/>
          </a:solidFill>
          <a:ln/>
        </p:spPr>
      </p:sp>
      <p:sp>
        <p:nvSpPr>
          <p:cNvPr id="5" name="value hex 誠意"/>
          <p:cNvSpPr/>
          <p:nvPr/>
        </p:nvSpPr>
        <p:spPr>
          <a:xfrm>
            <a:off x="1078992" y="2057400"/>
            <a:ext cx="1005840" cy="885139"/>
          </a:xfrm>
          <a:prstGeom prst="hexagon">
            <a:avLst/>
          </a:prstGeom>
          <a:solidFill>
            <a:schemeClr val="accent1"/>
          </a:solidFill>
          <a:ln/>
        </p:spPr>
      </p:sp>
      <p:sp>
        <p:nvSpPr>
          <p:cNvPr id="6" name="Text 4"/>
          <p:cNvSpPr txBox="1"/>
          <p:nvPr/>
        </p:nvSpPr>
        <p:spPr>
          <a:xfrm>
            <a:off x="1078992" y="2057400"/>
            <a:ext cx="1005840" cy="885139"/>
          </a:xfrm>
          <a:prstGeom prst="rect">
            <a:avLst/>
          </a:prstGeom>
          <a:noFill/>
          <a:ln/>
        </p:spPr>
        <p:txBody>
          <a:bodyPr wrap="square" lIns="0" tIns="0" rIns="0" bIns="0" rtlCol="0" anchor="ctr"/>
          <a:lstStyle/>
          <a:p>
            <a:pPr algn="ctr" indent="0" marL="0">
              <a:buNone/>
            </a:pPr>
            <a:r>
              <a:rPr lang="en-US" sz="1600" b="1" dirty="0">
                <a:solidFill>
                  <a:srgbClr val="FFFFFF"/>
                </a:solidFill>
              </a:rPr>
              <a:t>誠意</a:t>
            </a:r>
            <a:endParaRPr lang="en-US" sz="1600" dirty="0"/>
          </a:p>
        </p:txBody>
      </p:sp>
      <p:sp>
        <p:nvSpPr>
          <p:cNvPr id="7" name="Text 5"/>
          <p:cNvSpPr txBox="1"/>
          <p:nvPr/>
        </p:nvSpPr>
        <p:spPr>
          <a:xfrm>
            <a:off x="713232" y="3063240"/>
            <a:ext cx="1746504" cy="960120"/>
          </a:xfrm>
          <a:prstGeom prst="rect">
            <a:avLst/>
          </a:prstGeom>
          <a:noFill/>
          <a:ln/>
        </p:spPr>
        <p:txBody>
          <a:bodyPr wrap="square" lIns="0" tIns="0" rIns="0" bIns="0" rtlCol="0" anchor="ctr"/>
          <a:lstStyle/>
          <a:p>
            <a:pPr algn="ctr" indent="0" marL="0">
              <a:lnSpc>
                <a:spcPct val="115000"/>
              </a:lnSpc>
              <a:buNone/>
            </a:pPr>
            <a:r>
              <a:rPr lang="en-US" sz="1500" b="1" dirty="0">
                <a:solidFill>
                  <a:schemeClr val="tx2"/>
                </a:solidFill>
              </a:rPr>
              <a:t>本人の意思を大切にしたい方</a:t>
            </a:r>
            <a:endParaRPr lang="en-US" sz="1500" dirty="0"/>
          </a:p>
        </p:txBody>
      </p:sp>
      <p:sp>
        <p:nvSpPr>
          <p:cNvPr id="8" name="Text 6"/>
          <p:cNvSpPr txBox="1"/>
          <p:nvPr/>
        </p:nvSpPr>
        <p:spPr>
          <a:xfrm>
            <a:off x="731520" y="4114800"/>
            <a:ext cx="1709928" cy="1325880"/>
          </a:xfrm>
          <a:prstGeom prst="rect">
            <a:avLst/>
          </a:prstGeom>
          <a:noFill/>
          <a:ln/>
        </p:spPr>
        <p:txBody>
          <a:bodyPr wrap="square" lIns="0" tIns="0" rIns="0" bIns="0" rtlCol="0" anchor="t"/>
          <a:lstStyle/>
          <a:p>
            <a:pPr indent="0" marL="0">
              <a:lnSpc>
                <a:spcPct val="115000"/>
              </a:lnSpc>
              <a:buNone/>
            </a:pPr>
            <a:r>
              <a:rPr lang="en-US" sz="1300" dirty="0">
                <a:solidFill>
                  <a:schemeClr val="tx1"/>
                </a:solidFill>
              </a:rPr>
              <a:t>本人の思いや生活背景に、誠実に向き合いたい方</a:t>
            </a:r>
            <a:endParaRPr lang="en-US" sz="1300" dirty="0"/>
          </a:p>
        </p:txBody>
      </p:sp>
      <p:sp>
        <p:nvSpPr>
          <p:cNvPr id="9" name="persona 2"/>
          <p:cNvSpPr/>
          <p:nvPr/>
        </p:nvSpPr>
        <p:spPr>
          <a:xfrm>
            <a:off x="2807208" y="1874520"/>
            <a:ext cx="2075688" cy="3657600"/>
          </a:xfrm>
          <a:prstGeom prst="roundRect">
            <a:avLst>
              <a:gd name="adj" fmla="val 5286"/>
            </a:avLst>
          </a:prstGeom>
          <a:solidFill>
            <a:schemeClr val="bg2"/>
          </a:solidFill>
          <a:ln/>
        </p:spPr>
      </p:sp>
      <p:sp>
        <p:nvSpPr>
          <p:cNvPr id="10" name="value hex 専門性"/>
          <p:cNvSpPr/>
          <p:nvPr/>
        </p:nvSpPr>
        <p:spPr>
          <a:xfrm>
            <a:off x="3337560" y="2057400"/>
            <a:ext cx="1005840" cy="885139"/>
          </a:xfrm>
          <a:prstGeom prst="hexagon">
            <a:avLst/>
          </a:prstGeom>
          <a:solidFill>
            <a:schemeClr val="accent2"/>
          </a:solidFill>
          <a:ln/>
        </p:spPr>
      </p:sp>
      <p:sp>
        <p:nvSpPr>
          <p:cNvPr id="11" name="Text 9"/>
          <p:cNvSpPr txBox="1"/>
          <p:nvPr/>
        </p:nvSpPr>
        <p:spPr>
          <a:xfrm>
            <a:off x="3337560" y="2057400"/>
            <a:ext cx="1005840" cy="885139"/>
          </a:xfrm>
          <a:prstGeom prst="rect">
            <a:avLst/>
          </a:prstGeom>
          <a:noFill/>
          <a:ln/>
        </p:spPr>
        <p:txBody>
          <a:bodyPr wrap="square" lIns="0" tIns="0" rIns="0" bIns="0" rtlCol="0" anchor="ctr"/>
          <a:lstStyle/>
          <a:p>
            <a:pPr algn="ctr" indent="0" marL="0">
              <a:buNone/>
            </a:pPr>
            <a:r>
              <a:rPr lang="en-US" sz="1400" b="1" dirty="0">
                <a:solidFill>
                  <a:srgbClr val="FFFFFF"/>
                </a:solidFill>
              </a:rPr>
              <a:t>専門性</a:t>
            </a:r>
            <a:endParaRPr lang="en-US" sz="1400" dirty="0"/>
          </a:p>
        </p:txBody>
      </p:sp>
      <p:sp>
        <p:nvSpPr>
          <p:cNvPr id="12" name="Text 10"/>
          <p:cNvSpPr txBox="1"/>
          <p:nvPr/>
        </p:nvSpPr>
        <p:spPr>
          <a:xfrm>
            <a:off x="2971800" y="3063240"/>
            <a:ext cx="1746504" cy="960120"/>
          </a:xfrm>
          <a:prstGeom prst="rect">
            <a:avLst/>
          </a:prstGeom>
          <a:noFill/>
          <a:ln/>
        </p:spPr>
        <p:txBody>
          <a:bodyPr wrap="square" lIns="0" tIns="0" rIns="0" bIns="0" rtlCol="0" anchor="ctr"/>
          <a:lstStyle/>
          <a:p>
            <a:pPr algn="ctr" indent="0" marL="0">
              <a:lnSpc>
                <a:spcPct val="115000"/>
              </a:lnSpc>
              <a:buNone/>
            </a:pPr>
            <a:r>
              <a:rPr lang="en-US" sz="1500" b="1" dirty="0">
                <a:solidFill>
                  <a:schemeClr val="tx2"/>
                </a:solidFill>
              </a:rPr>
              <a:t>専門性を深めたい方</a:t>
            </a:r>
            <a:endParaRPr lang="en-US" sz="1500" dirty="0"/>
          </a:p>
        </p:txBody>
      </p:sp>
      <p:sp>
        <p:nvSpPr>
          <p:cNvPr id="13" name="Text 11"/>
          <p:cNvSpPr txBox="1"/>
          <p:nvPr/>
        </p:nvSpPr>
        <p:spPr>
          <a:xfrm>
            <a:off x="2990088" y="4114800"/>
            <a:ext cx="1709928" cy="1325880"/>
          </a:xfrm>
          <a:prstGeom prst="rect">
            <a:avLst/>
          </a:prstGeom>
          <a:noFill/>
          <a:ln/>
        </p:spPr>
        <p:txBody>
          <a:bodyPr wrap="square" lIns="0" tIns="0" rIns="0" bIns="0" rtlCol="0" anchor="t"/>
          <a:lstStyle/>
          <a:p>
            <a:pPr indent="0" marL="0">
              <a:lnSpc>
                <a:spcPct val="115000"/>
              </a:lnSpc>
              <a:buNone/>
            </a:pPr>
            <a:r>
              <a:rPr lang="en-US" sz="1300" dirty="0">
                <a:solidFill>
                  <a:schemeClr val="tx1"/>
                </a:solidFill>
              </a:rPr>
              <a:t>ケアマネジャーとしての知識や技術を学び続けたい方</a:t>
            </a:r>
            <a:endParaRPr lang="en-US" sz="1300" dirty="0"/>
          </a:p>
        </p:txBody>
      </p:sp>
      <p:sp>
        <p:nvSpPr>
          <p:cNvPr id="14" name="persona 3"/>
          <p:cNvSpPr/>
          <p:nvPr/>
        </p:nvSpPr>
        <p:spPr>
          <a:xfrm>
            <a:off x="5065776" y="1874520"/>
            <a:ext cx="2075688" cy="3657600"/>
          </a:xfrm>
          <a:prstGeom prst="roundRect">
            <a:avLst>
              <a:gd name="adj" fmla="val 5286"/>
            </a:avLst>
          </a:prstGeom>
          <a:solidFill>
            <a:schemeClr val="bg2"/>
          </a:solidFill>
          <a:ln/>
        </p:spPr>
      </p:sp>
      <p:sp>
        <p:nvSpPr>
          <p:cNvPr id="15" name="value hex 貢献"/>
          <p:cNvSpPr/>
          <p:nvPr/>
        </p:nvSpPr>
        <p:spPr>
          <a:xfrm>
            <a:off x="5596128" y="2057400"/>
            <a:ext cx="1005840" cy="885139"/>
          </a:xfrm>
          <a:prstGeom prst="hexagon">
            <a:avLst/>
          </a:prstGeom>
          <a:solidFill>
            <a:schemeClr val="accent1"/>
          </a:solidFill>
          <a:ln/>
        </p:spPr>
      </p:sp>
      <p:sp>
        <p:nvSpPr>
          <p:cNvPr id="16" name="Text 14"/>
          <p:cNvSpPr txBox="1"/>
          <p:nvPr/>
        </p:nvSpPr>
        <p:spPr>
          <a:xfrm>
            <a:off x="5596128" y="2057400"/>
            <a:ext cx="1005840" cy="885139"/>
          </a:xfrm>
          <a:prstGeom prst="rect">
            <a:avLst/>
          </a:prstGeom>
          <a:noFill/>
          <a:ln/>
        </p:spPr>
        <p:txBody>
          <a:bodyPr wrap="square" lIns="0" tIns="0" rIns="0" bIns="0" rtlCol="0" anchor="ctr"/>
          <a:lstStyle/>
          <a:p>
            <a:pPr algn="ctr" indent="0" marL="0">
              <a:buNone/>
            </a:pPr>
            <a:r>
              <a:rPr lang="en-US" sz="1600" b="1" dirty="0">
                <a:solidFill>
                  <a:srgbClr val="FFFFFF"/>
                </a:solidFill>
              </a:rPr>
              <a:t>貢献</a:t>
            </a:r>
            <a:endParaRPr lang="en-US" sz="1600" dirty="0"/>
          </a:p>
        </p:txBody>
      </p:sp>
      <p:sp>
        <p:nvSpPr>
          <p:cNvPr id="17" name="Text 15"/>
          <p:cNvSpPr txBox="1"/>
          <p:nvPr/>
        </p:nvSpPr>
        <p:spPr>
          <a:xfrm>
            <a:off x="5230368" y="3063240"/>
            <a:ext cx="1746504" cy="960120"/>
          </a:xfrm>
          <a:prstGeom prst="rect">
            <a:avLst/>
          </a:prstGeom>
          <a:noFill/>
          <a:ln/>
        </p:spPr>
        <p:txBody>
          <a:bodyPr wrap="square" lIns="0" tIns="0" rIns="0" bIns="0" rtlCol="0" anchor="ctr"/>
          <a:lstStyle/>
          <a:p>
            <a:pPr algn="ctr" indent="0" marL="0">
              <a:lnSpc>
                <a:spcPct val="115000"/>
              </a:lnSpc>
              <a:buNone/>
            </a:pPr>
            <a:r>
              <a:rPr lang="en-US" sz="1500" b="1" dirty="0">
                <a:solidFill>
                  <a:schemeClr val="tx2"/>
                </a:solidFill>
              </a:rPr>
              <a:t>周囲と相談しながら支援したい方</a:t>
            </a:r>
            <a:endParaRPr lang="en-US" sz="1500" dirty="0"/>
          </a:p>
        </p:txBody>
      </p:sp>
      <p:sp>
        <p:nvSpPr>
          <p:cNvPr id="18" name="Text 16"/>
          <p:cNvSpPr txBox="1"/>
          <p:nvPr/>
        </p:nvSpPr>
        <p:spPr>
          <a:xfrm>
            <a:off x="5248656" y="4114800"/>
            <a:ext cx="1709928" cy="1325880"/>
          </a:xfrm>
          <a:prstGeom prst="rect">
            <a:avLst/>
          </a:prstGeom>
          <a:noFill/>
          <a:ln/>
        </p:spPr>
        <p:txBody>
          <a:bodyPr wrap="square" lIns="0" tIns="0" rIns="0" bIns="0" rtlCol="0" anchor="t"/>
          <a:lstStyle/>
          <a:p>
            <a:pPr indent="0" marL="0">
              <a:lnSpc>
                <a:spcPct val="115000"/>
              </a:lnSpc>
              <a:buNone/>
            </a:pPr>
            <a:r>
              <a:rPr lang="en-US" sz="1300" dirty="0">
                <a:solidFill>
                  <a:schemeClr val="tx1"/>
                </a:solidFill>
              </a:rPr>
              <a:t>一人で抱え込まず、仲間や多職種と力を合わせたい方</a:t>
            </a:r>
            <a:endParaRPr lang="en-US" sz="1300" dirty="0"/>
          </a:p>
        </p:txBody>
      </p:sp>
      <p:sp>
        <p:nvSpPr>
          <p:cNvPr id="19" name="persona 4"/>
          <p:cNvSpPr/>
          <p:nvPr/>
        </p:nvSpPr>
        <p:spPr>
          <a:xfrm>
            <a:off x="7324344" y="1874520"/>
            <a:ext cx="2075688" cy="3657600"/>
          </a:xfrm>
          <a:prstGeom prst="roundRect">
            <a:avLst>
              <a:gd name="adj" fmla="val 5286"/>
            </a:avLst>
          </a:prstGeom>
          <a:solidFill>
            <a:schemeClr val="bg2"/>
          </a:solidFill>
          <a:ln/>
        </p:spPr>
      </p:sp>
      <p:sp>
        <p:nvSpPr>
          <p:cNvPr id="20" name="value hex 変革"/>
          <p:cNvSpPr/>
          <p:nvPr/>
        </p:nvSpPr>
        <p:spPr>
          <a:xfrm>
            <a:off x="7854696" y="2057400"/>
            <a:ext cx="1005840" cy="885139"/>
          </a:xfrm>
          <a:prstGeom prst="hexagon">
            <a:avLst/>
          </a:prstGeom>
          <a:solidFill>
            <a:schemeClr val="accent2"/>
          </a:solidFill>
          <a:ln/>
        </p:spPr>
      </p:sp>
      <p:sp>
        <p:nvSpPr>
          <p:cNvPr id="21" name="Text 19"/>
          <p:cNvSpPr txBox="1"/>
          <p:nvPr/>
        </p:nvSpPr>
        <p:spPr>
          <a:xfrm>
            <a:off x="7854696" y="2057400"/>
            <a:ext cx="1005840" cy="885139"/>
          </a:xfrm>
          <a:prstGeom prst="rect">
            <a:avLst/>
          </a:prstGeom>
          <a:noFill/>
          <a:ln/>
        </p:spPr>
        <p:txBody>
          <a:bodyPr wrap="square" lIns="0" tIns="0" rIns="0" bIns="0" rtlCol="0" anchor="ctr"/>
          <a:lstStyle/>
          <a:p>
            <a:pPr algn="ctr" indent="0" marL="0">
              <a:buNone/>
            </a:pPr>
            <a:r>
              <a:rPr lang="en-US" sz="1600" b="1" dirty="0">
                <a:solidFill>
                  <a:srgbClr val="FFFFFF"/>
                </a:solidFill>
              </a:rPr>
              <a:t>変革</a:t>
            </a:r>
            <a:endParaRPr lang="en-US" sz="1600" dirty="0"/>
          </a:p>
        </p:txBody>
      </p:sp>
      <p:sp>
        <p:nvSpPr>
          <p:cNvPr id="22" name="Text 20"/>
          <p:cNvSpPr txBox="1"/>
          <p:nvPr/>
        </p:nvSpPr>
        <p:spPr>
          <a:xfrm>
            <a:off x="7488936" y="3063240"/>
            <a:ext cx="1746504" cy="960120"/>
          </a:xfrm>
          <a:prstGeom prst="rect">
            <a:avLst/>
          </a:prstGeom>
          <a:noFill/>
          <a:ln/>
        </p:spPr>
        <p:txBody>
          <a:bodyPr wrap="square" lIns="0" tIns="0" rIns="0" bIns="0" rtlCol="0" anchor="ctr"/>
          <a:lstStyle/>
          <a:p>
            <a:pPr algn="ctr" indent="0" marL="0">
              <a:lnSpc>
                <a:spcPct val="115000"/>
              </a:lnSpc>
              <a:buNone/>
            </a:pPr>
            <a:r>
              <a:rPr lang="en-US" sz="1500" b="1" dirty="0">
                <a:solidFill>
                  <a:schemeClr val="tx2"/>
                </a:solidFill>
              </a:rPr>
              <a:t>より良いやり方を一緒に考えたい方</a:t>
            </a:r>
            <a:endParaRPr lang="en-US" sz="1500" dirty="0"/>
          </a:p>
        </p:txBody>
      </p:sp>
      <p:sp>
        <p:nvSpPr>
          <p:cNvPr id="23" name="Text 21"/>
          <p:cNvSpPr txBox="1"/>
          <p:nvPr/>
        </p:nvSpPr>
        <p:spPr>
          <a:xfrm>
            <a:off x="7507224" y="4114800"/>
            <a:ext cx="1709928" cy="1325880"/>
          </a:xfrm>
          <a:prstGeom prst="rect">
            <a:avLst/>
          </a:prstGeom>
          <a:noFill/>
          <a:ln/>
        </p:spPr>
        <p:txBody>
          <a:bodyPr wrap="square" lIns="0" tIns="0" rIns="0" bIns="0" rtlCol="0" anchor="t"/>
          <a:lstStyle/>
          <a:p>
            <a:pPr indent="0" marL="0">
              <a:lnSpc>
                <a:spcPct val="115000"/>
              </a:lnSpc>
              <a:buNone/>
            </a:pPr>
            <a:r>
              <a:rPr lang="en-US" sz="1300" dirty="0">
                <a:solidFill>
                  <a:schemeClr val="tx1"/>
                </a:solidFill>
              </a:rPr>
              <a:t>現場での気づきを、支援や働き方の改善につなげたい方</a:t>
            </a:r>
            <a:endParaRPr lang="en-US" sz="1300" dirty="0"/>
          </a:p>
        </p:txBody>
      </p:sp>
      <p:sp>
        <p:nvSpPr>
          <p:cNvPr id="24" name="persona 5"/>
          <p:cNvSpPr/>
          <p:nvPr/>
        </p:nvSpPr>
        <p:spPr>
          <a:xfrm>
            <a:off x="9582912" y="1874520"/>
            <a:ext cx="2075688" cy="3657600"/>
          </a:xfrm>
          <a:prstGeom prst="roundRect">
            <a:avLst>
              <a:gd name="adj" fmla="val 5286"/>
            </a:avLst>
          </a:prstGeom>
          <a:solidFill>
            <a:schemeClr val="bg2"/>
          </a:solidFill>
          <a:ln/>
        </p:spPr>
      </p:sp>
      <p:sp>
        <p:nvSpPr>
          <p:cNvPr id="25" name="value hex 挑戦"/>
          <p:cNvSpPr/>
          <p:nvPr/>
        </p:nvSpPr>
        <p:spPr>
          <a:xfrm>
            <a:off x="10113264" y="2057400"/>
            <a:ext cx="1005840" cy="885139"/>
          </a:xfrm>
          <a:prstGeom prst="hexagon">
            <a:avLst/>
          </a:prstGeom>
          <a:solidFill>
            <a:schemeClr val="accent1"/>
          </a:solidFill>
          <a:ln/>
        </p:spPr>
      </p:sp>
      <p:sp>
        <p:nvSpPr>
          <p:cNvPr id="26" name="Text 24"/>
          <p:cNvSpPr txBox="1"/>
          <p:nvPr/>
        </p:nvSpPr>
        <p:spPr>
          <a:xfrm>
            <a:off x="10113264" y="2057400"/>
            <a:ext cx="1005840" cy="885139"/>
          </a:xfrm>
          <a:prstGeom prst="rect">
            <a:avLst/>
          </a:prstGeom>
          <a:noFill/>
          <a:ln/>
        </p:spPr>
        <p:txBody>
          <a:bodyPr wrap="square" lIns="0" tIns="0" rIns="0" bIns="0" rtlCol="0" anchor="ctr"/>
          <a:lstStyle/>
          <a:p>
            <a:pPr algn="ctr" indent="0" marL="0">
              <a:buNone/>
            </a:pPr>
            <a:r>
              <a:rPr lang="en-US" sz="1600" b="1" dirty="0">
                <a:solidFill>
                  <a:srgbClr val="FFFFFF"/>
                </a:solidFill>
              </a:rPr>
              <a:t>挑戦</a:t>
            </a:r>
            <a:endParaRPr lang="en-US" sz="1600" dirty="0"/>
          </a:p>
        </p:txBody>
      </p:sp>
      <p:sp>
        <p:nvSpPr>
          <p:cNvPr id="27" name="Text 25"/>
          <p:cNvSpPr txBox="1"/>
          <p:nvPr/>
        </p:nvSpPr>
        <p:spPr>
          <a:xfrm>
            <a:off x="9747504" y="3063240"/>
            <a:ext cx="1746504" cy="960120"/>
          </a:xfrm>
          <a:prstGeom prst="rect">
            <a:avLst/>
          </a:prstGeom>
          <a:noFill/>
          <a:ln/>
        </p:spPr>
        <p:txBody>
          <a:bodyPr wrap="square" lIns="0" tIns="0" rIns="0" bIns="0" rtlCol="0" anchor="ctr"/>
          <a:lstStyle/>
          <a:p>
            <a:pPr algn="ctr" indent="0" marL="0">
              <a:lnSpc>
                <a:spcPct val="115000"/>
              </a:lnSpc>
              <a:buNone/>
            </a:pPr>
            <a:r>
              <a:rPr lang="en-US" sz="1500" b="1" dirty="0">
                <a:solidFill>
                  <a:schemeClr val="tx2"/>
                </a:solidFill>
              </a:rPr>
              <a:t>新しいことに一歩踏み出したい方</a:t>
            </a:r>
            <a:endParaRPr lang="en-US" sz="1500" dirty="0"/>
          </a:p>
        </p:txBody>
      </p:sp>
      <p:sp>
        <p:nvSpPr>
          <p:cNvPr id="28" name="Text 26"/>
          <p:cNvSpPr txBox="1"/>
          <p:nvPr/>
        </p:nvSpPr>
        <p:spPr>
          <a:xfrm>
            <a:off x="9765792" y="4114800"/>
            <a:ext cx="1709928" cy="1325880"/>
          </a:xfrm>
          <a:prstGeom prst="rect">
            <a:avLst/>
          </a:prstGeom>
          <a:noFill/>
          <a:ln/>
        </p:spPr>
        <p:txBody>
          <a:bodyPr wrap="square" lIns="0" tIns="0" rIns="0" bIns="0" rtlCol="0" anchor="t"/>
          <a:lstStyle/>
          <a:p>
            <a:pPr indent="0" marL="0">
              <a:lnSpc>
                <a:spcPct val="115000"/>
              </a:lnSpc>
              <a:buNone/>
            </a:pPr>
            <a:r>
              <a:rPr lang="en-US" sz="1300" dirty="0">
                <a:solidFill>
                  <a:schemeClr val="tx1"/>
                </a:solidFill>
              </a:rPr>
              <a:t>これまでの経験を生かしながら、新しい役割にも取り組みたい方</a:t>
            </a:r>
            <a:endParaRPr lang="en-US" sz="1300" dirty="0"/>
          </a:p>
        </p:txBody>
      </p:sp>
      <p:sp>
        <p:nvSpPr>
          <p:cNvPr id="29" name="Text 27"/>
          <p:cNvSpPr txBox="1"/>
          <p:nvPr/>
        </p:nvSpPr>
        <p:spPr>
          <a:xfrm>
            <a:off x="548640" y="5669280"/>
            <a:ext cx="11064240" cy="411480"/>
          </a:xfrm>
          <a:prstGeom prst="rect">
            <a:avLst/>
          </a:prstGeom>
          <a:noFill/>
          <a:ln/>
        </p:spPr>
        <p:txBody>
          <a:bodyPr wrap="square" lIns="0" tIns="0" rIns="0" bIns="0" rtlCol="0" anchor="t"/>
          <a:lstStyle/>
          <a:p>
            <a:pPr indent="0" marL="0">
              <a:lnSpc>
                <a:spcPct val="115000"/>
              </a:lnSpc>
              <a:buNone/>
            </a:pPr>
            <a:r>
              <a:rPr lang="en-US" sz="1200" dirty="0">
                <a:solidFill>
                  <a:schemeClr val="accent5"/>
                </a:solidFill>
              </a:rPr>
              <a:t>六角形は Value（挑戦・変革・専門性・誠意・貢献）との関係を示しています。応募資格は「募集条件」のページをご確認ください。</a:t>
            </a:r>
            <a:endParaRPr lang="en-US" sz="1200" dirty="0"/>
          </a:p>
        </p:txBody>
      </p:sp>
      <p:sp>
        <p:nvSpPr>
          <p:cNvPr id="25" name="Slide Number Placeholder 0"/>
          <p:cNvSpPr>
            <a:spLocks noGrp="1"/>
          </p:cNvSpPr>
          <p:nvPr>
            <p:ph type="sldNum" sz="quarter" idx="4294967295"/>
          </p:nvPr>
        </p:nvSpPr>
        <p:spPr>
          <a:xfrm>
            <a:off x="548640" y="635508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1"/>
                </a:solidFill>
              </a:defRPr>
            </a:lvl1pPr>
          </a:lstStyle>
          <a:p>
            <a:pPr algn="l"/>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募集条件</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109960" cy="914400"/>
        </p:xfrm>
        <a:graphic>
          <a:graphicData uri="http://schemas.openxmlformats.org/drawingml/2006/table">
            <a:tbl>
              <a:tblPr/>
              <a:tblGrid>
                <a:gridCol w="2011680"/>
                <a:gridCol w="9098280"/>
              </a:tblGrid>
              <a:tr h="411480">
                <a:tc>
                  <a:txBody>
                    <a:bodyPr/>
                    <a:lstStyle/>
                    <a:p>
                      <a:pPr indent="0" marL="0">
                        <a:buNone/>
                      </a:pPr>
                      <a:r>
                        <a:rPr lang="en-US" sz="1400" b="1" dirty="0">
                          <a:solidFill>
                            <a:schemeClr val="tx2"/>
                          </a:solidFill>
                        </a:rPr>
                        <a:t>職種</a:t>
                      </a:r>
                      <a:endParaRPr lang="en-US" sz="1400" dirty="0"/>
                    </a:p>
                  </a:txBody>
                  <a:tcPr marL="137160" marR="137160" marT="54864" marB="54864" anchor="ctr">
                    <a:lnL w="9525" cap="flat" cmpd="sng" algn="ctr">
                      <a:solidFill>
                        <a:srgbClr val="E6D9C3"/>
                      </a:solidFill>
                      <a:prstDash val="solid"/>
                      <a:round/>
                      <a:headEnd type="none" w="med" len="med"/>
                      <a:tailEnd type="none" w="med" len="med"/>
                    </a:lnL>
                    <a:lnR w="9525" cap="flat" cmpd="sng" algn="ctr">
                      <a:solidFill>
                        <a:srgbClr val="E6D9C3"/>
                      </a:solidFill>
                      <a:prstDash val="solid"/>
                      <a:round/>
                      <a:headEnd type="none" w="med" len="med"/>
                      <a:tailEnd type="none" w="med" len="med"/>
                    </a:lnR>
                    <a:lnT w="9525" cap="flat" cmpd="sng" algn="ctr">
                      <a:solidFill>
                        <a:srgbClr val="E6D9C3"/>
                      </a:solidFill>
                      <a:prstDash val="solid"/>
                      <a:round/>
                      <a:headEnd type="none" w="med" len="med"/>
                      <a:tailEnd type="none" w="med" len="med"/>
                    </a:lnT>
                    <a:lnB w="9525" cap="flat" cmpd="sng" algn="ctr">
                      <a:solidFill>
                        <a:srgbClr val="E6D9C3"/>
                      </a:solidFill>
                      <a:prstDash val="solid"/>
                      <a:round/>
                      <a:headEnd type="none" w="med" len="med"/>
                      <a:tailEnd type="none" w="med" len="med"/>
                    </a:lnB>
                    <a:solidFill>
                      <a:schemeClr val="accent3"/>
                    </a:solidFill>
                  </a:tcPr>
                </a:tc>
                <a:tc>
                  <a:txBody>
                    <a:bodyPr/>
                    <a:lstStyle/>
                    <a:p>
                      <a:pPr indent="0" marL="0">
                        <a:buNone/>
                      </a:pPr>
                      <a:r>
                        <a:rPr lang="en-US" sz="1400" dirty="0">
                          <a:solidFill>
                            <a:schemeClr val="tx1"/>
                          </a:solidFill>
                        </a:rPr>
                        <a:t>ケアマネジャー（介護支援専門員）</a:t>
                      </a:r>
                      <a:endParaRPr lang="en-US" sz="1400" dirty="0"/>
                    </a:p>
                  </a:txBody>
                  <a:tcPr marL="137160" marR="137160" marT="54864" marB="54864" anchor="ctr">
                    <a:lnL w="9525" cap="flat" cmpd="sng" algn="ctr">
                      <a:solidFill>
                        <a:srgbClr val="E6D9C3"/>
                      </a:solidFill>
                      <a:prstDash val="solid"/>
                      <a:round/>
                      <a:headEnd type="none" w="med" len="med"/>
                      <a:tailEnd type="none" w="med" len="med"/>
                    </a:lnL>
                    <a:lnR w="9525" cap="flat" cmpd="sng" algn="ctr">
                      <a:solidFill>
                        <a:srgbClr val="E6D9C3"/>
                      </a:solidFill>
                      <a:prstDash val="solid"/>
                      <a:round/>
                      <a:headEnd type="none" w="med" len="med"/>
                      <a:tailEnd type="none" w="med" len="med"/>
                    </a:lnR>
                    <a:lnT w="9525" cap="flat" cmpd="sng" algn="ctr">
                      <a:solidFill>
                        <a:srgbClr val="E6D9C3"/>
                      </a:solidFill>
                      <a:prstDash val="solid"/>
                      <a:round/>
                      <a:headEnd type="none" w="med" len="med"/>
                      <a:tailEnd type="none" w="med" len="med"/>
                    </a:lnT>
                    <a:lnB w="9525" cap="flat" cmpd="sng" algn="ctr">
                      <a:solidFill>
                        <a:srgbClr val="E6D9C3"/>
                      </a:solidFill>
                      <a:prstDash val="solid"/>
                      <a:round/>
                      <a:headEnd type="none" w="med" len="med"/>
                      <a:tailEnd type="none" w="med" len="med"/>
                    </a:lnB>
                    <a:solidFill>
                      <a:srgbClr val="FFFFFF"/>
                    </a:solidFill>
                  </a:tcPr>
                </a:tc>
              </a:tr>
              <a:tr h="411480">
                <a:tc>
                  <a:txBody>
                    <a:bodyPr/>
                    <a:lstStyle/>
                    <a:p>
                      <a:pPr indent="0" marL="0">
                        <a:buNone/>
                      </a:pPr>
                      <a:r>
                        <a:rPr lang="en-US" sz="1400" b="1" dirty="0">
                          <a:solidFill>
                            <a:schemeClr val="tx2"/>
                          </a:solidFill>
                        </a:rPr>
                        <a:t>雇用形態</a:t>
                      </a:r>
                      <a:endParaRPr lang="en-US" sz="1400" dirty="0"/>
                    </a:p>
                  </a:txBody>
                  <a:tcPr marL="137160" marR="137160" marT="54864" marB="54864" anchor="ctr">
                    <a:lnL w="9525" cap="flat" cmpd="sng" algn="ctr">
                      <a:solidFill>
                        <a:srgbClr val="E6D9C3"/>
                      </a:solidFill>
                      <a:prstDash val="solid"/>
                      <a:round/>
                      <a:headEnd type="none" w="med" len="med"/>
                      <a:tailEnd type="none" w="med" len="med"/>
                    </a:lnL>
                    <a:lnR w="9525" cap="flat" cmpd="sng" algn="ctr">
                      <a:solidFill>
                        <a:srgbClr val="E6D9C3"/>
                      </a:solidFill>
                      <a:prstDash val="solid"/>
                      <a:round/>
                      <a:headEnd type="none" w="med" len="med"/>
                      <a:tailEnd type="none" w="med" len="med"/>
                    </a:lnR>
                    <a:lnT w="9525" cap="flat" cmpd="sng" algn="ctr">
                      <a:solidFill>
                        <a:srgbClr val="E6D9C3"/>
                      </a:solidFill>
                      <a:prstDash val="solid"/>
                      <a:round/>
                      <a:headEnd type="none" w="med" len="med"/>
                      <a:tailEnd type="none" w="med" len="med"/>
                    </a:lnT>
                    <a:lnB w="9525" cap="flat" cmpd="sng" algn="ctr">
                      <a:solidFill>
                        <a:srgbClr val="E6D9C3"/>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6"/>
                          </a:solidFill>
                        </a:rPr>
                        <a:t>［要確認］</a:t>
                      </a:r>
                      <a:endParaRPr lang="en-US" sz="1400" dirty="0"/>
                    </a:p>
                  </a:txBody>
                  <a:tcPr marL="137160" marR="137160" marT="54864" marB="54864" anchor="ctr">
                    <a:lnL w="9525" cap="flat" cmpd="sng" algn="ctr">
                      <a:solidFill>
                        <a:srgbClr val="E6D9C3"/>
                      </a:solidFill>
                      <a:prstDash val="solid"/>
                      <a:round/>
                      <a:headEnd type="none" w="med" len="med"/>
                      <a:tailEnd type="none" w="med" len="med"/>
                    </a:lnL>
                    <a:lnR w="9525" cap="flat" cmpd="sng" algn="ctr">
                      <a:solidFill>
                        <a:srgbClr val="E6D9C3"/>
                      </a:solidFill>
                      <a:prstDash val="solid"/>
                      <a:round/>
                      <a:headEnd type="none" w="med" len="med"/>
                      <a:tailEnd type="none" w="med" len="med"/>
                    </a:lnR>
                    <a:lnT w="9525" cap="flat" cmpd="sng" algn="ctr">
                      <a:solidFill>
                        <a:srgbClr val="E6D9C3"/>
                      </a:solidFill>
                      <a:prstDash val="solid"/>
                      <a:round/>
                      <a:headEnd type="none" w="med" len="med"/>
                      <a:tailEnd type="none" w="med" len="med"/>
                    </a:lnT>
                    <a:lnB w="9525" cap="flat" cmpd="sng" algn="ctr">
                      <a:solidFill>
                        <a:srgbClr val="E6D9C3"/>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chemeClr val="tx2"/>
                          </a:solidFill>
                        </a:rPr>
                        <a:t>応募資格</a:t>
                      </a:r>
                      <a:endParaRPr lang="en-US" sz="1400" dirty="0"/>
                    </a:p>
                  </a:txBody>
                  <a:tcPr marL="137160" marR="137160" marT="54864" marB="54864" anchor="ctr">
                    <a:lnL w="9525" cap="flat" cmpd="sng" algn="ctr">
                      <a:solidFill>
                        <a:srgbClr val="E6D9C3"/>
                      </a:solidFill>
                      <a:prstDash val="solid"/>
                      <a:round/>
                      <a:headEnd type="none" w="med" len="med"/>
                      <a:tailEnd type="none" w="med" len="med"/>
                    </a:lnL>
                    <a:lnR w="9525" cap="flat" cmpd="sng" algn="ctr">
                      <a:solidFill>
                        <a:srgbClr val="E6D9C3"/>
                      </a:solidFill>
                      <a:prstDash val="solid"/>
                      <a:round/>
                      <a:headEnd type="none" w="med" len="med"/>
                      <a:tailEnd type="none" w="med" len="med"/>
                    </a:lnR>
                    <a:lnT w="9525" cap="flat" cmpd="sng" algn="ctr">
                      <a:solidFill>
                        <a:srgbClr val="E6D9C3"/>
                      </a:solidFill>
                      <a:prstDash val="solid"/>
                      <a:round/>
                      <a:headEnd type="none" w="med" len="med"/>
                      <a:tailEnd type="none" w="med" len="med"/>
                    </a:lnT>
                    <a:lnB w="9525" cap="flat" cmpd="sng" algn="ctr">
                      <a:solidFill>
                        <a:srgbClr val="E6D9C3"/>
                      </a:solidFill>
                      <a:prstDash val="solid"/>
                      <a:round/>
                      <a:headEnd type="none" w="med" len="med"/>
                      <a:tailEnd type="none" w="med" len="med"/>
                    </a:lnB>
                    <a:solidFill>
                      <a:schemeClr val="accent3"/>
                    </a:solidFill>
                  </a:tcPr>
                </a:tc>
                <a:tc>
                  <a:txBody>
                    <a:bodyPr/>
                    <a:lstStyle/>
                    <a:p>
                      <a:pPr indent="0" marL="0">
                        <a:buNone/>
                      </a:pPr>
                      <a:r>
                        <a:rPr lang="en-US" sz="1400" dirty="0">
                          <a:solidFill>
                            <a:schemeClr val="tx1"/>
                          </a:solidFill>
                        </a:rPr>
                        <a:t>介護支援専門員の資格（実務経験の要否などの条件は</a:t>
                      </a:r>
                      <a:pPr indent="0" marL="0">
                        <a:buNone/>
                      </a:pPr>
                      <a:r>
                        <a:rPr lang="en-US" sz="1400" b="1" dirty="0">
                          <a:solidFill>
                            <a:schemeClr val="accent6"/>
                          </a:solidFill>
                        </a:rPr>
                        <a:t>［要確認］</a:t>
                      </a:r>
                      <a:pPr indent="0" marL="0">
                        <a:buNone/>
                      </a:pPr>
                      <a:r>
                        <a:rPr lang="en-US" sz="1400" dirty="0">
                          <a:solidFill>
                            <a:schemeClr val="tx1"/>
                          </a:solidFill>
                        </a:rPr>
                        <a:t>）／運転免許の要否</a:t>
                      </a:r>
                      <a:pPr indent="0" marL="0">
                        <a:buNone/>
                      </a:pPr>
                      <a:r>
                        <a:rPr lang="en-US" sz="1400" b="1" dirty="0">
                          <a:solidFill>
                            <a:schemeClr val="accent6"/>
                          </a:solidFill>
                        </a:rPr>
                        <a:t>［要確認］</a:t>
                      </a:r>
                      <a:endParaRPr lang="en-US" sz="1400" dirty="0"/>
                    </a:p>
                  </a:txBody>
                  <a:tcPr marL="137160" marR="137160" marT="54864" marB="54864" anchor="ctr">
                    <a:lnL w="9525" cap="flat" cmpd="sng" algn="ctr">
                      <a:solidFill>
                        <a:srgbClr val="E6D9C3"/>
                      </a:solidFill>
                      <a:prstDash val="solid"/>
                      <a:round/>
                      <a:headEnd type="none" w="med" len="med"/>
                      <a:tailEnd type="none" w="med" len="med"/>
                    </a:lnL>
                    <a:lnR w="9525" cap="flat" cmpd="sng" algn="ctr">
                      <a:solidFill>
                        <a:srgbClr val="E6D9C3"/>
                      </a:solidFill>
                      <a:prstDash val="solid"/>
                      <a:round/>
                      <a:headEnd type="none" w="med" len="med"/>
                      <a:tailEnd type="none" w="med" len="med"/>
                    </a:lnR>
                    <a:lnT w="9525" cap="flat" cmpd="sng" algn="ctr">
                      <a:solidFill>
                        <a:srgbClr val="E6D9C3"/>
                      </a:solidFill>
                      <a:prstDash val="solid"/>
                      <a:round/>
                      <a:headEnd type="none" w="med" len="med"/>
                      <a:tailEnd type="none" w="med" len="med"/>
                    </a:lnT>
                    <a:lnB w="9525" cap="flat" cmpd="sng" algn="ctr">
                      <a:solidFill>
                        <a:srgbClr val="E6D9C3"/>
                      </a:solidFill>
                      <a:prstDash val="solid"/>
                      <a:round/>
                      <a:headEnd type="none" w="med" len="med"/>
                      <a:tailEnd type="none" w="med" len="med"/>
                    </a:lnB>
                    <a:solidFill>
                      <a:srgbClr val="FFFFFF"/>
                    </a:solidFill>
                  </a:tcPr>
                </a:tc>
              </a:tr>
              <a:tr h="658368">
                <a:tc>
                  <a:txBody>
                    <a:bodyPr/>
                    <a:lstStyle/>
                    <a:p>
                      <a:pPr indent="0" marL="0">
                        <a:buNone/>
                      </a:pPr>
                      <a:r>
                        <a:rPr lang="en-US" sz="1400" b="1" dirty="0">
                          <a:solidFill>
                            <a:schemeClr val="tx2"/>
                          </a:solidFill>
                        </a:rPr>
                        <a:t>給与</a:t>
                      </a:r>
                      <a:endParaRPr lang="en-US" sz="1400" dirty="0"/>
                    </a:p>
                  </a:txBody>
                  <a:tcPr marL="137160" marR="137160" marT="54864" marB="54864" anchor="ctr">
                    <a:lnL w="9525" cap="flat" cmpd="sng" algn="ctr">
                      <a:solidFill>
                        <a:srgbClr val="E6D9C3"/>
                      </a:solidFill>
                      <a:prstDash val="solid"/>
                      <a:round/>
                      <a:headEnd type="none" w="med" len="med"/>
                      <a:tailEnd type="none" w="med" len="med"/>
                    </a:lnL>
                    <a:lnR w="9525" cap="flat" cmpd="sng" algn="ctr">
                      <a:solidFill>
                        <a:srgbClr val="E6D9C3"/>
                      </a:solidFill>
                      <a:prstDash val="solid"/>
                      <a:round/>
                      <a:headEnd type="none" w="med" len="med"/>
                      <a:tailEnd type="none" w="med" len="med"/>
                    </a:lnR>
                    <a:lnT w="9525" cap="flat" cmpd="sng" algn="ctr">
                      <a:solidFill>
                        <a:srgbClr val="E6D9C3"/>
                      </a:solidFill>
                      <a:prstDash val="solid"/>
                      <a:round/>
                      <a:headEnd type="none" w="med" len="med"/>
                      <a:tailEnd type="none" w="med" len="med"/>
                    </a:lnT>
                    <a:lnB w="9525" cap="flat" cmpd="sng" algn="ctr">
                      <a:solidFill>
                        <a:srgbClr val="E6D9C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28万円〜33万円（みなし残業代を含む）</a:t>
                      </a:r>
                      <a:endParaRPr lang="en-US" sz="1400" dirty="0"/>
                    </a:p>
                    <a:p>
                      <a:pPr indent="0" marL="0">
                        <a:buNone/>
                      </a:pPr>
                      <a:r>
                        <a:rPr lang="en-US" sz="1400" dirty="0">
                          <a:solidFill>
                            <a:schemeClr val="tx1"/>
                          </a:solidFill>
                        </a:rPr>
                        <a:t>みなし残業の時間数・金額、超過分の取扱い</a:t>
                      </a:r>
                      <a:pPr indent="0" marL="0">
                        <a:buNone/>
                      </a:pPr>
                      <a:r>
                        <a:rPr lang="en-US" sz="1400" b="1" dirty="0">
                          <a:solidFill>
                            <a:schemeClr val="accent6"/>
                          </a:solidFill>
                        </a:rPr>
                        <a:t>［要確認］</a:t>
                      </a:r>
                      <a:endParaRPr lang="en-US" sz="1400" dirty="0"/>
                    </a:p>
                  </a:txBody>
                  <a:tcPr marL="137160" marR="137160" marT="54864" marB="54864" anchor="ctr">
                    <a:lnL w="9525" cap="flat" cmpd="sng" algn="ctr">
                      <a:solidFill>
                        <a:srgbClr val="E6D9C3"/>
                      </a:solidFill>
                      <a:prstDash val="solid"/>
                      <a:round/>
                      <a:headEnd type="none" w="med" len="med"/>
                      <a:tailEnd type="none" w="med" len="med"/>
                    </a:lnL>
                    <a:lnR w="9525" cap="flat" cmpd="sng" algn="ctr">
                      <a:solidFill>
                        <a:srgbClr val="E6D9C3"/>
                      </a:solidFill>
                      <a:prstDash val="solid"/>
                      <a:round/>
                      <a:headEnd type="none" w="med" len="med"/>
                      <a:tailEnd type="none" w="med" len="med"/>
                    </a:lnR>
                    <a:lnT w="9525" cap="flat" cmpd="sng" algn="ctr">
                      <a:solidFill>
                        <a:srgbClr val="E6D9C3"/>
                      </a:solidFill>
                      <a:prstDash val="solid"/>
                      <a:round/>
                      <a:headEnd type="none" w="med" len="med"/>
                      <a:tailEnd type="none" w="med" len="med"/>
                    </a:lnT>
                    <a:lnB w="9525" cap="flat" cmpd="sng" algn="ctr">
                      <a:solidFill>
                        <a:srgbClr val="E6D9C3"/>
                      </a:solidFill>
                      <a:prstDash val="solid"/>
                      <a:round/>
                      <a:headEnd type="none" w="med" len="med"/>
                      <a:tailEnd type="none" w="med" len="med"/>
                    </a:lnB>
                    <a:solidFill>
                      <a:srgbClr val="FFFFFF"/>
                    </a:solidFill>
                  </a:tcPr>
                </a:tc>
              </a:tr>
              <a:tr h="411480">
                <a:tc>
                  <a:txBody>
                    <a:bodyPr/>
                    <a:lstStyle/>
                    <a:p>
                      <a:pPr indent="0" marL="0">
                        <a:buNone/>
                      </a:pPr>
                      <a:r>
                        <a:rPr lang="en-US" sz="1400" b="1" dirty="0">
                          <a:solidFill>
                            <a:schemeClr val="tx2"/>
                          </a:solidFill>
                        </a:rPr>
                        <a:t>勤務時間</a:t>
                      </a:r>
                      <a:endParaRPr lang="en-US" sz="1400" dirty="0"/>
                    </a:p>
                  </a:txBody>
                  <a:tcPr marL="137160" marR="137160" marT="54864" marB="54864" anchor="ctr">
                    <a:lnL w="9525" cap="flat" cmpd="sng" algn="ctr">
                      <a:solidFill>
                        <a:srgbClr val="E6D9C3"/>
                      </a:solidFill>
                      <a:prstDash val="solid"/>
                      <a:round/>
                      <a:headEnd type="none" w="med" len="med"/>
                      <a:tailEnd type="none" w="med" len="med"/>
                    </a:lnL>
                    <a:lnR w="9525" cap="flat" cmpd="sng" algn="ctr">
                      <a:solidFill>
                        <a:srgbClr val="E6D9C3"/>
                      </a:solidFill>
                      <a:prstDash val="solid"/>
                      <a:round/>
                      <a:headEnd type="none" w="med" len="med"/>
                      <a:tailEnd type="none" w="med" len="med"/>
                    </a:lnR>
                    <a:lnT w="9525" cap="flat" cmpd="sng" algn="ctr">
                      <a:solidFill>
                        <a:srgbClr val="E6D9C3"/>
                      </a:solidFill>
                      <a:prstDash val="solid"/>
                      <a:round/>
                      <a:headEnd type="none" w="med" len="med"/>
                      <a:tailEnd type="none" w="med" len="med"/>
                    </a:lnT>
                    <a:lnB w="9525" cap="flat" cmpd="sng" algn="ctr">
                      <a:solidFill>
                        <a:srgbClr val="E6D9C3"/>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accent6"/>
                          </a:solidFill>
                        </a:rPr>
                        <a:t>［要確認］</a:t>
                      </a:r>
                      <a:endParaRPr lang="en-US" sz="1400" dirty="0"/>
                    </a:p>
                  </a:txBody>
                  <a:tcPr marL="137160" marR="137160" marT="54864" marB="54864" anchor="ctr">
                    <a:lnL w="9525" cap="flat" cmpd="sng" algn="ctr">
                      <a:solidFill>
                        <a:srgbClr val="E6D9C3"/>
                      </a:solidFill>
                      <a:prstDash val="solid"/>
                      <a:round/>
                      <a:headEnd type="none" w="med" len="med"/>
                      <a:tailEnd type="none" w="med" len="med"/>
                    </a:lnL>
                    <a:lnR w="9525" cap="flat" cmpd="sng" algn="ctr">
                      <a:solidFill>
                        <a:srgbClr val="E6D9C3"/>
                      </a:solidFill>
                      <a:prstDash val="solid"/>
                      <a:round/>
                      <a:headEnd type="none" w="med" len="med"/>
                      <a:tailEnd type="none" w="med" len="med"/>
                    </a:lnR>
                    <a:lnT w="9525" cap="flat" cmpd="sng" algn="ctr">
                      <a:solidFill>
                        <a:srgbClr val="E6D9C3"/>
                      </a:solidFill>
                      <a:prstDash val="solid"/>
                      <a:round/>
                      <a:headEnd type="none" w="med" len="med"/>
                      <a:tailEnd type="none" w="med" len="med"/>
                    </a:lnT>
                    <a:lnB w="9525" cap="flat" cmpd="sng" algn="ctr">
                      <a:solidFill>
                        <a:srgbClr val="E6D9C3"/>
                      </a:solidFill>
                      <a:prstDash val="solid"/>
                      <a:round/>
                      <a:headEnd type="none" w="med" len="med"/>
                      <a:tailEnd type="none" w="med" len="med"/>
                    </a:lnB>
                    <a:solidFill>
                      <a:srgbClr val="FFFFFF"/>
                    </a:solidFill>
                  </a:tcPr>
                </a:tc>
              </a:tr>
              <a:tr h="658368">
                <a:tc>
                  <a:txBody>
                    <a:bodyPr/>
                    <a:lstStyle/>
                    <a:p>
                      <a:pPr indent="0" marL="0">
                        <a:buNone/>
                      </a:pPr>
                      <a:r>
                        <a:rPr lang="en-US" sz="1400" b="1" dirty="0">
                          <a:solidFill>
                            <a:schemeClr val="tx2"/>
                          </a:solidFill>
                        </a:rPr>
                        <a:t>休日・休暇</a:t>
                      </a:r>
                      <a:endParaRPr lang="en-US" sz="1400" dirty="0"/>
                    </a:p>
                  </a:txBody>
                  <a:tcPr marL="137160" marR="137160" marT="54864" marB="54864" anchor="ctr">
                    <a:lnL w="9525" cap="flat" cmpd="sng" algn="ctr">
                      <a:solidFill>
                        <a:srgbClr val="E6D9C3"/>
                      </a:solidFill>
                      <a:prstDash val="solid"/>
                      <a:round/>
                      <a:headEnd type="none" w="med" len="med"/>
                      <a:tailEnd type="none" w="med" len="med"/>
                    </a:lnL>
                    <a:lnR w="9525" cap="flat" cmpd="sng" algn="ctr">
                      <a:solidFill>
                        <a:srgbClr val="E6D9C3"/>
                      </a:solidFill>
                      <a:prstDash val="solid"/>
                      <a:round/>
                      <a:headEnd type="none" w="med" len="med"/>
                      <a:tailEnd type="none" w="med" len="med"/>
                    </a:lnR>
                    <a:lnT w="9525" cap="flat" cmpd="sng" algn="ctr">
                      <a:solidFill>
                        <a:srgbClr val="E6D9C3"/>
                      </a:solidFill>
                      <a:prstDash val="solid"/>
                      <a:round/>
                      <a:headEnd type="none" w="med" len="med"/>
                      <a:tailEnd type="none" w="med" len="med"/>
                    </a:lnT>
                    <a:lnB w="9525" cap="flat" cmpd="sng" algn="ctr">
                      <a:solidFill>
                        <a:srgbClr val="E6D9C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年間休日121日以上／リフレッシュ休暇3日間（年間休日とは別）</a:t>
                      </a:r>
                      <a:endParaRPr lang="en-US" sz="1400" dirty="0"/>
                    </a:p>
                    <a:p>
                      <a:pPr indent="0" marL="0">
                        <a:buNone/>
                      </a:pPr>
                      <a:r>
                        <a:rPr lang="en-US" sz="1400" dirty="0">
                          <a:solidFill>
                            <a:schemeClr val="tx1"/>
                          </a:solidFill>
                        </a:rPr>
                        <a:t>休日の曜日・取得条件</a:t>
                      </a:r>
                      <a:pPr indent="0" marL="0">
                        <a:buNone/>
                      </a:pPr>
                      <a:r>
                        <a:rPr lang="en-US" sz="1400" b="1" dirty="0">
                          <a:solidFill>
                            <a:schemeClr val="accent6"/>
                          </a:solidFill>
                        </a:rPr>
                        <a:t>［要確認］</a:t>
                      </a:r>
                      <a:endParaRPr lang="en-US" sz="1400" dirty="0"/>
                    </a:p>
                  </a:txBody>
                  <a:tcPr marL="137160" marR="137160" marT="54864" marB="54864" anchor="ctr">
                    <a:lnL w="9525" cap="flat" cmpd="sng" algn="ctr">
                      <a:solidFill>
                        <a:srgbClr val="E6D9C3"/>
                      </a:solidFill>
                      <a:prstDash val="solid"/>
                      <a:round/>
                      <a:headEnd type="none" w="med" len="med"/>
                      <a:tailEnd type="none" w="med" len="med"/>
                    </a:lnL>
                    <a:lnR w="9525" cap="flat" cmpd="sng" algn="ctr">
                      <a:solidFill>
                        <a:srgbClr val="E6D9C3"/>
                      </a:solidFill>
                      <a:prstDash val="solid"/>
                      <a:round/>
                      <a:headEnd type="none" w="med" len="med"/>
                      <a:tailEnd type="none" w="med" len="med"/>
                    </a:lnR>
                    <a:lnT w="9525" cap="flat" cmpd="sng" algn="ctr">
                      <a:solidFill>
                        <a:srgbClr val="E6D9C3"/>
                      </a:solidFill>
                      <a:prstDash val="solid"/>
                      <a:round/>
                      <a:headEnd type="none" w="med" len="med"/>
                      <a:tailEnd type="none" w="med" len="med"/>
                    </a:lnT>
                    <a:lnB w="9525" cap="flat" cmpd="sng" algn="ctr">
                      <a:solidFill>
                        <a:srgbClr val="E6D9C3"/>
                      </a:solidFill>
                      <a:prstDash val="solid"/>
                      <a:round/>
                      <a:headEnd type="none" w="med" len="med"/>
                      <a:tailEnd type="none" w="med" len="med"/>
                    </a:lnB>
                    <a:solidFill>
                      <a:srgbClr val="FFFFFF"/>
                    </a:solidFill>
                  </a:tcPr>
                </a:tc>
              </a:tr>
              <a:tr h="658368">
                <a:tc>
                  <a:txBody>
                    <a:bodyPr/>
                    <a:lstStyle/>
                    <a:p>
                      <a:pPr indent="0" marL="0">
                        <a:buNone/>
                      </a:pPr>
                      <a:r>
                        <a:rPr lang="en-US" sz="1400" b="1" dirty="0">
                          <a:solidFill>
                            <a:schemeClr val="tx2"/>
                          </a:solidFill>
                        </a:rPr>
                        <a:t>勤務地</a:t>
                      </a:r>
                      <a:endParaRPr lang="en-US" sz="1400" dirty="0"/>
                    </a:p>
                  </a:txBody>
                  <a:tcPr marL="137160" marR="137160" marT="54864" marB="54864" anchor="ctr">
                    <a:lnL w="9525" cap="flat" cmpd="sng" algn="ctr">
                      <a:solidFill>
                        <a:srgbClr val="E6D9C3"/>
                      </a:solidFill>
                      <a:prstDash val="solid"/>
                      <a:round/>
                      <a:headEnd type="none" w="med" len="med"/>
                      <a:tailEnd type="none" w="med" len="med"/>
                    </a:lnL>
                    <a:lnR w="9525" cap="flat" cmpd="sng" algn="ctr">
                      <a:solidFill>
                        <a:srgbClr val="E6D9C3"/>
                      </a:solidFill>
                      <a:prstDash val="solid"/>
                      <a:round/>
                      <a:headEnd type="none" w="med" len="med"/>
                      <a:tailEnd type="none" w="med" len="med"/>
                    </a:lnR>
                    <a:lnT w="9525" cap="flat" cmpd="sng" algn="ctr">
                      <a:solidFill>
                        <a:srgbClr val="E6D9C3"/>
                      </a:solidFill>
                      <a:prstDash val="solid"/>
                      <a:round/>
                      <a:headEnd type="none" w="med" len="med"/>
                      <a:tailEnd type="none" w="med" len="med"/>
                    </a:lnT>
                    <a:lnB w="9525" cap="flat" cmpd="sng" algn="ctr">
                      <a:solidFill>
                        <a:srgbClr val="E6D9C3"/>
                      </a:solidFill>
                      <a:prstDash val="solid"/>
                      <a:round/>
                      <a:headEnd type="none" w="med" len="med"/>
                      <a:tailEnd type="none" w="med" len="med"/>
                    </a:lnB>
                    <a:solidFill>
                      <a:schemeClr val="accent3"/>
                    </a:solidFill>
                  </a:tcPr>
                </a:tc>
                <a:tc>
                  <a:txBody>
                    <a:bodyPr/>
                    <a:lstStyle/>
                    <a:p>
                      <a:pPr indent="0" marL="0">
                        <a:buNone/>
                      </a:pPr>
                      <a:r>
                        <a:rPr lang="en-US" sz="1400" dirty="0">
                          <a:solidFill>
                            <a:schemeClr val="tx1"/>
                          </a:solidFill>
                        </a:rPr>
                        <a:t>うちケアプランセンター（事業所所在地</a:t>
                      </a:r>
                      <a:pPr indent="0" marL="0">
                        <a:buNone/>
                      </a:pPr>
                      <a:r>
                        <a:rPr lang="en-US" sz="1400" b="1" dirty="0">
                          <a:solidFill>
                            <a:schemeClr val="accent6"/>
                          </a:solidFill>
                        </a:rPr>
                        <a:t>［要確認］</a:t>
                      </a:r>
                      <a:pPr indent="0" marL="0">
                        <a:buNone/>
                      </a:pPr>
                      <a:r>
                        <a:rPr lang="en-US" sz="1400" dirty="0">
                          <a:solidFill>
                            <a:schemeClr val="tx1"/>
                          </a:solidFill>
                        </a:rPr>
                        <a:t>）</a:t>
                      </a:r>
                      <a:endParaRPr lang="en-US" sz="1400" dirty="0"/>
                    </a:p>
                    <a:p>
                      <a:pPr indent="0" marL="0">
                        <a:buNone/>
                      </a:pPr>
                      <a:r>
                        <a:rPr lang="en-US" sz="1400" dirty="0">
                          <a:solidFill>
                            <a:schemeClr val="tx1"/>
                          </a:solidFill>
                        </a:rPr>
                        <a:t>※本社所在地とは異なる場合があります</a:t>
                      </a:r>
                      <a:endParaRPr lang="en-US" sz="1400" dirty="0"/>
                    </a:p>
                  </a:txBody>
                  <a:tcPr marL="137160" marR="137160" marT="54864" marB="54864" anchor="ctr">
                    <a:lnL w="9525" cap="flat" cmpd="sng" algn="ctr">
                      <a:solidFill>
                        <a:srgbClr val="E6D9C3"/>
                      </a:solidFill>
                      <a:prstDash val="solid"/>
                      <a:round/>
                      <a:headEnd type="none" w="med" len="med"/>
                      <a:tailEnd type="none" w="med" len="med"/>
                    </a:lnL>
                    <a:lnR w="9525" cap="flat" cmpd="sng" algn="ctr">
                      <a:solidFill>
                        <a:srgbClr val="E6D9C3"/>
                      </a:solidFill>
                      <a:prstDash val="solid"/>
                      <a:round/>
                      <a:headEnd type="none" w="med" len="med"/>
                      <a:tailEnd type="none" w="med" len="med"/>
                    </a:lnR>
                    <a:lnT w="9525" cap="flat" cmpd="sng" algn="ctr">
                      <a:solidFill>
                        <a:srgbClr val="E6D9C3"/>
                      </a:solidFill>
                      <a:prstDash val="solid"/>
                      <a:round/>
                      <a:headEnd type="none" w="med" len="med"/>
                      <a:tailEnd type="none" w="med" len="med"/>
                    </a:lnT>
                    <a:lnB w="9525" cap="flat" cmpd="sng" algn="ctr">
                      <a:solidFill>
                        <a:srgbClr val="E6D9C3"/>
                      </a:solidFill>
                      <a:prstDash val="solid"/>
                      <a:round/>
                      <a:headEnd type="none" w="med" len="med"/>
                      <a:tailEnd type="none" w="med" len="med"/>
                    </a:lnB>
                    <a:solidFill>
                      <a:srgbClr val="FFFFFF"/>
                    </a:solidFill>
                  </a:tcPr>
                </a:tc>
              </a:tr>
              <a:tr h="658368">
                <a:tc>
                  <a:txBody>
                    <a:bodyPr/>
                    <a:lstStyle/>
                    <a:p>
                      <a:pPr indent="0" marL="0">
                        <a:buNone/>
                      </a:pPr>
                      <a:r>
                        <a:rPr lang="en-US" sz="1400" b="1" dirty="0">
                          <a:solidFill>
                            <a:schemeClr val="tx2"/>
                          </a:solidFill>
                        </a:rPr>
                        <a:t>待遇</a:t>
                      </a:r>
                      <a:endParaRPr lang="en-US" sz="1400" dirty="0"/>
                    </a:p>
                  </a:txBody>
                  <a:tcPr marL="137160" marR="137160" marT="54864" marB="54864" anchor="ctr">
                    <a:lnL w="9525" cap="flat" cmpd="sng" algn="ctr">
                      <a:solidFill>
                        <a:srgbClr val="E6D9C3"/>
                      </a:solidFill>
                      <a:prstDash val="solid"/>
                      <a:round/>
                      <a:headEnd type="none" w="med" len="med"/>
                      <a:tailEnd type="none" w="med" len="med"/>
                    </a:lnL>
                    <a:lnR w="9525" cap="flat" cmpd="sng" algn="ctr">
                      <a:solidFill>
                        <a:srgbClr val="E6D9C3"/>
                      </a:solidFill>
                      <a:prstDash val="solid"/>
                      <a:round/>
                      <a:headEnd type="none" w="med" len="med"/>
                      <a:tailEnd type="none" w="med" len="med"/>
                    </a:lnR>
                    <a:lnT w="9525" cap="flat" cmpd="sng" algn="ctr">
                      <a:solidFill>
                        <a:srgbClr val="E6D9C3"/>
                      </a:solidFill>
                      <a:prstDash val="solid"/>
                      <a:round/>
                      <a:headEnd type="none" w="med" len="med"/>
                      <a:tailEnd type="none" w="med" len="med"/>
                    </a:lnT>
                    <a:lnB w="9525" cap="flat" cmpd="sng" algn="ctr">
                      <a:solidFill>
                        <a:srgbClr val="E6D9C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パソコン・スマートフォン・タブレット貸与／社有車貸与／研修費補助制度</a:t>
                      </a:r>
                      <a:endParaRPr lang="en-US" sz="1400" dirty="0"/>
                    </a:p>
                    <a:p>
                      <a:pPr indent="0" marL="0">
                        <a:buNone/>
                      </a:pPr>
                      <a:r>
                        <a:rPr lang="en-US" sz="1400" dirty="0">
                          <a:solidFill>
                            <a:schemeClr val="tx1"/>
                          </a:solidFill>
                        </a:rPr>
                        <a:t>社会保険・各種手当・試用期間</a:t>
                      </a:r>
                      <a:pPr indent="0" marL="0">
                        <a:buNone/>
                      </a:pPr>
                      <a:r>
                        <a:rPr lang="en-US" sz="1400" b="1" dirty="0">
                          <a:solidFill>
                            <a:schemeClr val="accent6"/>
                          </a:solidFill>
                        </a:rPr>
                        <a:t>［要確認］</a:t>
                      </a:r>
                      <a:endParaRPr lang="en-US" sz="1400" dirty="0"/>
                    </a:p>
                  </a:txBody>
                  <a:tcPr marL="137160" marR="137160" marT="54864" marB="54864" anchor="ctr">
                    <a:lnL w="9525" cap="flat" cmpd="sng" algn="ctr">
                      <a:solidFill>
                        <a:srgbClr val="E6D9C3"/>
                      </a:solidFill>
                      <a:prstDash val="solid"/>
                      <a:round/>
                      <a:headEnd type="none" w="med" len="med"/>
                      <a:tailEnd type="none" w="med" len="med"/>
                    </a:lnL>
                    <a:lnR w="9525" cap="flat" cmpd="sng" algn="ctr">
                      <a:solidFill>
                        <a:srgbClr val="E6D9C3"/>
                      </a:solidFill>
                      <a:prstDash val="solid"/>
                      <a:round/>
                      <a:headEnd type="none" w="med" len="med"/>
                      <a:tailEnd type="none" w="med" len="med"/>
                    </a:lnR>
                    <a:lnT w="9525" cap="flat" cmpd="sng" algn="ctr">
                      <a:solidFill>
                        <a:srgbClr val="E6D9C3"/>
                      </a:solidFill>
                      <a:prstDash val="solid"/>
                      <a:round/>
                      <a:headEnd type="none" w="med" len="med"/>
                      <a:tailEnd type="none" w="med" len="med"/>
                    </a:lnT>
                    <a:lnB w="9525" cap="flat" cmpd="sng" algn="ctr">
                      <a:solidFill>
                        <a:srgbClr val="E6D9C3"/>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989320"/>
            <a:ext cx="9601200" cy="274320"/>
          </a:xfrm>
          <a:prstGeom prst="rect">
            <a:avLst/>
          </a:prstGeom>
          <a:noFill/>
          <a:ln/>
        </p:spPr>
        <p:txBody>
          <a:bodyPr wrap="square" lIns="0" tIns="0" rIns="0" bIns="0" rtlCol="0" anchor="t"/>
          <a:lstStyle/>
          <a:p>
            <a:pPr indent="0" marL="0">
              <a:lnSpc>
                <a:spcPct val="115000"/>
              </a:lnSpc>
              <a:buNone/>
            </a:pPr>
            <a:r>
              <a:rPr lang="en-US" sz="1100" dirty="0">
                <a:solidFill>
                  <a:schemeClr val="accent5"/>
                </a:solidFill>
              </a:rPr>
              <a:t>掲載内容は作成時点のものです。最新の条件は面談時にご確認ください。</a:t>
            </a:r>
            <a:endParaRPr lang="en-US" sz="1100" dirty="0"/>
          </a:p>
        </p:txBody>
      </p:sp>
      <p:sp>
        <p:nvSpPr>
          <p:cNvPr id="25" name="Slide Number Placeholder 0"/>
          <p:cNvSpPr>
            <a:spLocks noGrp="1"/>
          </p:cNvSpPr>
          <p:nvPr>
            <p:ph type="sldNum" sz="quarter" idx="4294967295"/>
          </p:nvPr>
        </p:nvSpPr>
        <p:spPr>
          <a:xfrm>
            <a:off x="548640" y="635508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1"/>
                </a:solidFill>
              </a:defRPr>
            </a:lvl1pPr>
          </a:lstStyle>
          <a:p>
            <a:pPr algn="l"/>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見学・面談のご案内</a:t>
            </a:r>
            <a:endParaRPr lang="en-US" sz="3000" dirty="0"/>
          </a:p>
        </p:txBody>
      </p:sp>
      <p:sp>
        <p:nvSpPr>
          <p:cNvPr id="3" name="Text 1"/>
          <p:cNvSpPr txBox="1"/>
          <p:nvPr/>
        </p:nvSpPr>
        <p:spPr>
          <a:xfrm>
            <a:off x="548640" y="1234440"/>
            <a:ext cx="11064240" cy="411480"/>
          </a:xfrm>
          <a:prstGeom prst="rect">
            <a:avLst/>
          </a:prstGeom>
          <a:noFill/>
          <a:ln/>
        </p:spPr>
        <p:txBody>
          <a:bodyPr wrap="square" lIns="0" tIns="0" rIns="0" bIns="0" rtlCol="0" anchor="t"/>
          <a:lstStyle/>
          <a:p>
            <a:pPr indent="0" marL="0">
              <a:lnSpc>
                <a:spcPct val="115000"/>
              </a:lnSpc>
              <a:buNone/>
            </a:pPr>
            <a:r>
              <a:rPr lang="en-US" sz="1800" b="1" dirty="0">
                <a:solidFill>
                  <a:schemeClr val="accent1"/>
                </a:solidFill>
              </a:rPr>
              <a:t>応募の前に、職場の雰囲気や仕事の進め方を、見て、聞いて、確かめてください。</a:t>
            </a:r>
            <a:endParaRPr lang="en-US" sz="1800" dirty="0"/>
          </a:p>
        </p:txBody>
      </p:sp>
      <p:sp>
        <p:nvSpPr>
          <p:cNvPr id="4" name="visit 1"/>
          <p:cNvSpPr/>
          <p:nvPr/>
        </p:nvSpPr>
        <p:spPr>
          <a:xfrm>
            <a:off x="548640" y="1828800"/>
            <a:ext cx="3108960" cy="2148840"/>
          </a:xfrm>
          <a:prstGeom prst="roundRect">
            <a:avLst>
              <a:gd name="adj" fmla="val 5106"/>
            </a:avLst>
          </a:prstGeom>
          <a:solidFill>
            <a:schemeClr val="bg2"/>
          </a:solidFill>
          <a:ln/>
        </p:spPr>
      </p:sp>
      <p:sp>
        <p:nvSpPr>
          <p:cNvPr id="5" name="Shape 3"/>
          <p:cNvSpPr/>
          <p:nvPr/>
        </p:nvSpPr>
        <p:spPr>
          <a:xfrm>
            <a:off x="777240" y="1993392"/>
            <a:ext cx="566928" cy="498897"/>
          </a:xfrm>
          <a:prstGeom prst="hexagon">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24641" y="2106778"/>
            <a:ext cx="272125" cy="272125"/>
          </a:xfrm>
          <a:prstGeom prst="rect">
            <a:avLst/>
          </a:prstGeom>
        </p:spPr>
      </p:pic>
      <p:sp>
        <p:nvSpPr>
          <p:cNvPr id="7" name="Text 4"/>
          <p:cNvSpPr txBox="1"/>
          <p:nvPr/>
        </p:nvSpPr>
        <p:spPr>
          <a:xfrm>
            <a:off x="1463040" y="2029968"/>
            <a:ext cx="2011680" cy="457200"/>
          </a:xfrm>
          <a:prstGeom prst="rect">
            <a:avLst/>
          </a:prstGeom>
          <a:noFill/>
          <a:ln/>
        </p:spPr>
        <p:txBody>
          <a:bodyPr wrap="square" lIns="0" tIns="0" rIns="0" bIns="0" rtlCol="0" anchor="ctr"/>
          <a:lstStyle/>
          <a:p>
            <a:pPr indent="0" marL="0">
              <a:lnSpc>
                <a:spcPct val="115000"/>
              </a:lnSpc>
              <a:buNone/>
            </a:pPr>
            <a:r>
              <a:rPr lang="en-US" sz="1700" b="1" dirty="0">
                <a:solidFill>
                  <a:schemeClr val="tx2"/>
                </a:solidFill>
              </a:rPr>
              <a:t>事業所見学</a:t>
            </a:r>
            <a:endParaRPr lang="en-US" sz="1700" dirty="0"/>
          </a:p>
        </p:txBody>
      </p:sp>
      <p:sp>
        <p:nvSpPr>
          <p:cNvPr id="8" name="Text 5"/>
          <p:cNvSpPr txBox="1"/>
          <p:nvPr/>
        </p:nvSpPr>
        <p:spPr>
          <a:xfrm>
            <a:off x="777240" y="2606040"/>
            <a:ext cx="2697480" cy="1325880"/>
          </a:xfrm>
          <a:prstGeom prst="rect">
            <a:avLst/>
          </a:prstGeom>
          <a:noFill/>
          <a:ln/>
        </p:spPr>
        <p:txBody>
          <a:bodyPr wrap="square" lIns="0" tIns="0" rIns="0" bIns="0" rtlCol="0" anchor="t"/>
          <a:lstStyle/>
          <a:p>
            <a:pPr indent="0" marL="0">
              <a:lnSpc>
                <a:spcPct val="115000"/>
              </a:lnSpc>
              <a:buNone/>
            </a:pPr>
            <a:r>
              <a:rPr lang="en-US" sz="1300" dirty="0">
                <a:solidFill>
                  <a:schemeClr val="tx1"/>
                </a:solidFill>
              </a:rPr>
              <a:t>事務所の様子や、日々の仕事の流れを知っていただく機会です。</a:t>
            </a:r>
            <a:endParaRPr lang="en-US" sz="1300" dirty="0"/>
          </a:p>
          <a:p>
            <a:pPr indent="0" marL="0">
              <a:lnSpc>
                <a:spcPct val="115000"/>
              </a:lnSpc>
              <a:buNone/>
            </a:pPr>
            <a:r>
              <a:rPr lang="en-US" sz="1300" dirty="0">
                <a:solidFill>
                  <a:schemeClr val="tx1"/>
                </a:solidFill>
              </a:rPr>
              <a:t>実施方法・所要時間</a:t>
            </a:r>
            <a:pPr indent="0" marL="0">
              <a:lnSpc>
                <a:spcPct val="115000"/>
              </a:lnSpc>
              <a:buNone/>
            </a:pPr>
            <a:r>
              <a:rPr lang="en-US" sz="1300" b="1" dirty="0">
                <a:solidFill>
                  <a:schemeClr val="accent6"/>
                </a:solidFill>
              </a:rPr>
              <a:t>［要確認］</a:t>
            </a:r>
            <a:endParaRPr lang="en-US" sz="1300" dirty="0"/>
          </a:p>
        </p:txBody>
      </p:sp>
      <p:sp>
        <p:nvSpPr>
          <p:cNvPr id="9" name="visit 2"/>
          <p:cNvSpPr/>
          <p:nvPr/>
        </p:nvSpPr>
        <p:spPr>
          <a:xfrm>
            <a:off x="3840480" y="1828800"/>
            <a:ext cx="3108960" cy="2148840"/>
          </a:xfrm>
          <a:prstGeom prst="roundRect">
            <a:avLst>
              <a:gd name="adj" fmla="val 5106"/>
            </a:avLst>
          </a:prstGeom>
          <a:solidFill>
            <a:schemeClr val="bg2"/>
          </a:solidFill>
          <a:ln/>
        </p:spPr>
      </p:sp>
      <p:sp>
        <p:nvSpPr>
          <p:cNvPr id="10" name="Shape 7"/>
          <p:cNvSpPr/>
          <p:nvPr/>
        </p:nvSpPr>
        <p:spPr>
          <a:xfrm>
            <a:off x="4069080" y="1993392"/>
            <a:ext cx="566928" cy="498897"/>
          </a:xfrm>
          <a:prstGeom prst="hexagon">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4216481" y="2106778"/>
            <a:ext cx="272125" cy="272125"/>
          </a:xfrm>
          <a:prstGeom prst="rect">
            <a:avLst/>
          </a:prstGeom>
        </p:spPr>
      </p:pic>
      <p:sp>
        <p:nvSpPr>
          <p:cNvPr id="12" name="Text 8"/>
          <p:cNvSpPr txBox="1"/>
          <p:nvPr/>
        </p:nvSpPr>
        <p:spPr>
          <a:xfrm>
            <a:off x="4754880" y="2029968"/>
            <a:ext cx="2011680" cy="457200"/>
          </a:xfrm>
          <a:prstGeom prst="rect">
            <a:avLst/>
          </a:prstGeom>
          <a:noFill/>
          <a:ln/>
        </p:spPr>
        <p:txBody>
          <a:bodyPr wrap="square" lIns="0" tIns="0" rIns="0" bIns="0" rtlCol="0" anchor="ctr"/>
          <a:lstStyle/>
          <a:p>
            <a:pPr indent="0" marL="0">
              <a:lnSpc>
                <a:spcPct val="115000"/>
              </a:lnSpc>
              <a:buNone/>
            </a:pPr>
            <a:r>
              <a:rPr lang="en-US" sz="1700" b="1" dirty="0">
                <a:solidFill>
                  <a:schemeClr val="tx2"/>
                </a:solidFill>
              </a:rPr>
              <a:t>面談</a:t>
            </a:r>
            <a:endParaRPr lang="en-US" sz="1700" dirty="0"/>
          </a:p>
        </p:txBody>
      </p:sp>
      <p:sp>
        <p:nvSpPr>
          <p:cNvPr id="13" name="Text 9"/>
          <p:cNvSpPr txBox="1"/>
          <p:nvPr/>
        </p:nvSpPr>
        <p:spPr>
          <a:xfrm>
            <a:off x="4069080" y="2606040"/>
            <a:ext cx="2697480" cy="1325880"/>
          </a:xfrm>
          <a:prstGeom prst="rect">
            <a:avLst/>
          </a:prstGeom>
          <a:noFill/>
          <a:ln/>
        </p:spPr>
        <p:txBody>
          <a:bodyPr wrap="square" lIns="0" tIns="0" rIns="0" bIns="0" rtlCol="0" anchor="t"/>
          <a:lstStyle/>
          <a:p>
            <a:pPr indent="0" marL="0">
              <a:lnSpc>
                <a:spcPct val="115000"/>
              </a:lnSpc>
              <a:buNone/>
            </a:pPr>
            <a:r>
              <a:rPr lang="en-US" sz="1300" dirty="0">
                <a:solidFill>
                  <a:schemeClr val="tx1"/>
                </a:solidFill>
              </a:rPr>
              <a:t>仕事内容や働き方について、気になることを質問できる場です。</a:t>
            </a:r>
            <a:endParaRPr lang="en-US" sz="1300" dirty="0"/>
          </a:p>
          <a:p>
            <a:pPr indent="0" marL="0">
              <a:lnSpc>
                <a:spcPct val="115000"/>
              </a:lnSpc>
              <a:buNone/>
            </a:pPr>
            <a:r>
              <a:rPr lang="en-US" sz="1300" dirty="0">
                <a:solidFill>
                  <a:schemeClr val="tx1"/>
                </a:solidFill>
              </a:rPr>
              <a:t>応募前の面談の可否</a:t>
            </a:r>
            <a:pPr indent="0" marL="0">
              <a:lnSpc>
                <a:spcPct val="115000"/>
              </a:lnSpc>
              <a:buNone/>
            </a:pPr>
            <a:r>
              <a:rPr lang="en-US" sz="1300" b="1" dirty="0">
                <a:solidFill>
                  <a:schemeClr val="accent6"/>
                </a:solidFill>
              </a:rPr>
              <a:t>［要確認］</a:t>
            </a:r>
            <a:endParaRPr lang="en-US" sz="1300" dirty="0"/>
          </a:p>
        </p:txBody>
      </p:sp>
      <p:sp>
        <p:nvSpPr>
          <p:cNvPr id="14" name="Text 10"/>
          <p:cNvSpPr txBox="1"/>
          <p:nvPr/>
        </p:nvSpPr>
        <p:spPr>
          <a:xfrm>
            <a:off x="548640" y="4160520"/>
            <a:ext cx="6217920" cy="320040"/>
          </a:xfrm>
          <a:prstGeom prst="rect">
            <a:avLst/>
          </a:prstGeom>
          <a:noFill/>
          <a:ln/>
        </p:spPr>
        <p:txBody>
          <a:bodyPr wrap="square" lIns="0" tIns="0" rIns="0" bIns="0" rtlCol="0" anchor="t"/>
          <a:lstStyle/>
          <a:p>
            <a:pPr indent="0" marL="0">
              <a:lnSpc>
                <a:spcPct val="115000"/>
              </a:lnSpc>
              <a:buNone/>
            </a:pPr>
            <a:r>
              <a:rPr lang="en-US" sz="1500" b="1" dirty="0">
                <a:solidFill>
                  <a:schemeClr val="tx2"/>
                </a:solidFill>
              </a:rPr>
              <a:t>面談で、ぜひ聞いてください</a:t>
            </a:r>
            <a:endParaRPr lang="en-US" sz="1500" dirty="0"/>
          </a:p>
        </p:txBody>
      </p:sp>
      <p:sp>
        <p:nvSpPr>
          <p:cNvPr id="15" name="Text 11"/>
          <p:cNvSpPr txBox="1"/>
          <p:nvPr/>
        </p:nvSpPr>
        <p:spPr>
          <a:xfrm>
            <a:off x="548640" y="4498848"/>
            <a:ext cx="6217920" cy="594360"/>
          </a:xfrm>
          <a:prstGeom prst="rect">
            <a:avLst/>
          </a:prstGeom>
          <a:noFill/>
          <a:ln/>
        </p:spPr>
        <p:txBody>
          <a:bodyPr wrap="square" lIns="0" tIns="0" rIns="0" bIns="0" rtlCol="0" anchor="t"/>
          <a:lstStyle/>
          <a:p>
            <a:pPr indent="0" marL="0">
              <a:lnSpc>
                <a:spcPct val="115000"/>
              </a:lnSpc>
              <a:buNone/>
            </a:pPr>
            <a:r>
              <a:rPr lang="en-US" sz="1350" dirty="0">
                <a:solidFill>
                  <a:schemeClr val="tx1"/>
                </a:solidFill>
              </a:rPr>
              <a:t>担当件数の目安／1日の仕事の流れ／相談できる体制／休日の取り方／研修費補助の範囲</a:t>
            </a:r>
            <a:endParaRPr lang="en-US" sz="1350" dirty="0"/>
          </a:p>
        </p:txBody>
      </p:sp>
      <p:sp>
        <p:nvSpPr>
          <p:cNvPr id="16" name="contact"/>
          <p:cNvSpPr/>
          <p:nvPr/>
        </p:nvSpPr>
        <p:spPr>
          <a:xfrm>
            <a:off x="548640" y="5212080"/>
            <a:ext cx="6217920" cy="868680"/>
          </a:xfrm>
          <a:prstGeom prst="roundRect">
            <a:avLst>
              <a:gd name="adj" fmla="val 12632"/>
            </a:avLst>
          </a:prstGeom>
          <a:solidFill>
            <a:schemeClr val="accent3"/>
          </a:solidFill>
          <a:ln/>
        </p:spPr>
      </p:sp>
      <p:sp>
        <p:nvSpPr>
          <p:cNvPr id="17" name="Text 13"/>
          <p:cNvSpPr txBox="1"/>
          <p:nvPr/>
        </p:nvSpPr>
        <p:spPr>
          <a:xfrm>
            <a:off x="777240" y="5257800"/>
            <a:ext cx="5852160" cy="777240"/>
          </a:xfrm>
          <a:prstGeom prst="rect">
            <a:avLst/>
          </a:prstGeom>
          <a:noFill/>
          <a:ln/>
        </p:spPr>
        <p:txBody>
          <a:bodyPr wrap="square" lIns="0" tIns="0" rIns="0" bIns="0" rtlCol="0" anchor="ctr"/>
          <a:lstStyle/>
          <a:p>
            <a:pPr indent="0" marL="0">
              <a:lnSpc>
                <a:spcPct val="115000"/>
              </a:lnSpc>
              <a:buNone/>
            </a:pPr>
            <a:r>
              <a:rPr lang="en-US" sz="1350" dirty="0">
                <a:solidFill>
                  <a:schemeClr val="tx1"/>
                </a:solidFill>
              </a:rPr>
              <a:t>選考の流れ・応募方法</a:t>
            </a:r>
            <a:pPr indent="0" marL="0">
              <a:lnSpc>
                <a:spcPct val="115000"/>
              </a:lnSpc>
              <a:buNone/>
            </a:pPr>
            <a:r>
              <a:rPr lang="en-US" sz="1350" b="1" dirty="0">
                <a:solidFill>
                  <a:schemeClr val="accent6"/>
                </a:solidFill>
              </a:rPr>
              <a:t>［要確認］</a:t>
            </a:r>
            <a:endParaRPr lang="en-US" sz="1350" dirty="0"/>
          </a:p>
          <a:p>
            <a:pPr indent="0" marL="0">
              <a:lnSpc>
                <a:spcPct val="115000"/>
              </a:lnSpc>
              <a:buNone/>
            </a:pPr>
            <a:r>
              <a:rPr lang="en-US" sz="1350" dirty="0">
                <a:solidFill>
                  <a:schemeClr val="tx1"/>
                </a:solidFill>
              </a:rPr>
              <a:t>お問い合わせ先（担当者・電話・メール）</a:t>
            </a:r>
            <a:pPr indent="0" marL="0">
              <a:lnSpc>
                <a:spcPct val="115000"/>
              </a:lnSpc>
              <a:buNone/>
            </a:pPr>
            <a:r>
              <a:rPr lang="en-US" sz="1350" b="1" dirty="0">
                <a:solidFill>
                  <a:schemeClr val="accent6"/>
                </a:solidFill>
              </a:rPr>
              <a:t>［要確認］</a:t>
            </a:r>
            <a:endParaRPr lang="en-US" sz="1350" dirty="0"/>
          </a:p>
        </p:txBody>
      </p:sp>
      <p:pic>
        <p:nvPicPr>
          <p:cNvPr id="18" name="team photo 2" descr="/tmp/claude-0/-home-user-UCHICARE/0e7d8274-02c5-574f-9991-dce834059096/scratchpad/team.jpg">    </p:cNvPr>
          <p:cNvPicPr>
            <a:picLocks noChangeAspect="1"/>
          </p:cNvPicPr>
          <p:nvPr/>
        </p:nvPicPr>
        <p:blipFill>
          <a:blip r:embed="rId3"/>
          <a:stretch>
            <a:fillRect/>
          </a:stretch>
        </p:blipFill>
        <p:spPr>
          <a:xfrm>
            <a:off x="7086600" y="1828800"/>
            <a:ext cx="4572000" cy="3429000"/>
          </a:xfrm>
          <a:prstGeom prst="rect">
            <a:avLst/>
          </a:prstGeom>
        </p:spPr>
      </p:pic>
      <p:sp>
        <p:nvSpPr>
          <p:cNvPr id="19" name="Text 14"/>
          <p:cNvSpPr txBox="1"/>
          <p:nvPr/>
        </p:nvSpPr>
        <p:spPr>
          <a:xfrm>
            <a:off x="7086600" y="5349240"/>
            <a:ext cx="4572000" cy="274320"/>
          </a:xfrm>
          <a:prstGeom prst="rect">
            <a:avLst/>
          </a:prstGeom>
          <a:noFill/>
          <a:ln/>
        </p:spPr>
        <p:txBody>
          <a:bodyPr wrap="square" lIns="0" tIns="0" rIns="0" bIns="0" rtlCol="0" anchor="t"/>
          <a:lstStyle/>
          <a:p>
            <a:pPr algn="r" indent="0" marL="0">
              <a:lnSpc>
                <a:spcPct val="115000"/>
              </a:lnSpc>
              <a:buNone/>
            </a:pPr>
            <a:r>
              <a:rPr lang="en-US" sz="1100" dirty="0">
                <a:solidFill>
                  <a:schemeClr val="accent5"/>
                </a:solidFill>
              </a:rPr>
              <a:t>株式会社Uchi careのメンバー</a:t>
            </a:r>
            <a:endParaRPr lang="en-US" sz="1100" dirty="0"/>
          </a:p>
        </p:txBody>
      </p:sp>
      <p:sp>
        <p:nvSpPr>
          <p:cNvPr id="25" name="Slide Number Placeholder 0"/>
          <p:cNvSpPr>
            <a:spLocks noGrp="1"/>
          </p:cNvSpPr>
          <p:nvPr>
            <p:ph type="sldNum" sz="quarter" idx="4294967295"/>
          </p:nvPr>
        </p:nvSpPr>
        <p:spPr>
          <a:xfrm>
            <a:off x="548640" y="635508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1"/>
                </a:solidFill>
              </a:defRPr>
            </a:lvl1pPr>
          </a:lstStyle>
          <a:p>
            <a:pPr algn="l"/>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代表メッセージ（代表確認前の原稿案）</a:t>
            </a:r>
            <a:endParaRPr lang="en-US" sz="3000" dirty="0"/>
          </a:p>
        </p:txBody>
      </p:sp>
      <p:sp>
        <p:nvSpPr>
          <p:cNvPr id="3" name="message draft"/>
          <p:cNvSpPr/>
          <p:nvPr/>
        </p:nvSpPr>
        <p:spPr>
          <a:xfrm>
            <a:off x="548640" y="1325880"/>
            <a:ext cx="11109960" cy="4709160"/>
          </a:xfrm>
          <a:prstGeom prst="roundRect">
            <a:avLst>
              <a:gd name="adj" fmla="val 2330"/>
            </a:avLst>
          </a:prstGeom>
          <a:solidFill>
            <a:schemeClr val="bg2"/>
          </a:solidFill>
          <a:ln/>
        </p:spPr>
      </p:sp>
      <p:sp>
        <p:nvSpPr>
          <p:cNvPr id="4" name="Text 2"/>
          <p:cNvSpPr txBox="1"/>
          <p:nvPr/>
        </p:nvSpPr>
        <p:spPr>
          <a:xfrm>
            <a:off x="914400" y="1600200"/>
            <a:ext cx="10378440" cy="3749040"/>
          </a:xfrm>
          <a:prstGeom prst="rect">
            <a:avLst/>
          </a:prstGeom>
          <a:noFill/>
          <a:ln/>
        </p:spPr>
        <p:txBody>
          <a:bodyPr wrap="square" lIns="0" tIns="0" rIns="0" bIns="0" rtlCol="0" anchor="t"/>
          <a:lstStyle/>
          <a:p>
            <a:pPr indent="0" marL="0">
              <a:lnSpc>
                <a:spcPct val="130000"/>
              </a:lnSpc>
              <a:buNone/>
            </a:pPr>
            <a:r>
              <a:rPr lang="en-US" sz="1600" dirty="0">
                <a:solidFill>
                  <a:schemeClr val="tx1"/>
                </a:solidFill>
              </a:rPr>
              <a:t>ケアマネジャーの仕事は、利用者さんやご家族の暮らしの大切な場面に寄り添う仕事です。だからこそ、支える人自身が健康で、自分らしくいられることが大切だと考えています。</a:t>
            </a:r>
            <a:endParaRPr lang="en-US" sz="1600" dirty="0"/>
          </a:p>
          <a:p>
            <a:pPr indent="0" marL="0">
              <a:lnSpc>
                <a:spcPct val="130000"/>
              </a:lnSpc>
              <a:buNone/>
            </a:pPr>
            <a:r>
              <a:rPr lang="en-US" sz="1600" dirty="0">
                <a:solidFill>
                  <a:schemeClr val="tx1"/>
                </a:solidFill>
              </a:rPr>
              <a:t> </a:t>
            </a:r>
            <a:endParaRPr lang="en-US" sz="1600" dirty="0"/>
          </a:p>
          <a:p>
            <a:pPr indent="0" marL="0">
              <a:lnSpc>
                <a:spcPct val="130000"/>
              </a:lnSpc>
              <a:buNone/>
            </a:pPr>
            <a:r>
              <a:rPr lang="en-US" sz="1600" dirty="0">
                <a:solidFill>
                  <a:schemeClr val="tx1"/>
                </a:solidFill>
              </a:rPr>
              <a:t>株式会社Uchi careは「医療福祉で誰1人取り残さない社会を創る」ことを目指しています。そのためには、利用者さんだけでなく、働く職員一人ひとりも取り残さない組織でありたいと思っています。</a:t>
            </a:r>
            <a:endParaRPr lang="en-US" sz="1600" dirty="0"/>
          </a:p>
          <a:p>
            <a:pPr indent="0" marL="0">
              <a:lnSpc>
                <a:spcPct val="130000"/>
              </a:lnSpc>
              <a:buNone/>
            </a:pPr>
            <a:r>
              <a:rPr lang="en-US" sz="1600" dirty="0">
                <a:solidFill>
                  <a:schemeClr val="tx1"/>
                </a:solidFill>
              </a:rPr>
              <a:t> </a:t>
            </a:r>
            <a:endParaRPr lang="en-US" sz="1600" dirty="0"/>
          </a:p>
          <a:p>
            <a:pPr indent="0" marL="0">
              <a:lnSpc>
                <a:spcPct val="130000"/>
              </a:lnSpc>
              <a:buNone/>
            </a:pPr>
            <a:r>
              <a:rPr lang="en-US" sz="1600" dirty="0">
                <a:solidFill>
                  <a:schemeClr val="tx1"/>
                </a:solidFill>
              </a:rPr>
              <a:t>困ったときに相談でき、互いの専門性を生かし、現場の声からより良い支援や働き方をつくっていく。そんな職場を、これから一緒につくっていただける方にお会いできることを楽しみにしています。</a:t>
            </a:r>
            <a:endParaRPr lang="en-US" sz="1600" dirty="0"/>
          </a:p>
        </p:txBody>
      </p:sp>
      <p:sp>
        <p:nvSpPr>
          <p:cNvPr id="5" name="Text 3"/>
          <p:cNvSpPr txBox="1"/>
          <p:nvPr/>
        </p:nvSpPr>
        <p:spPr>
          <a:xfrm>
            <a:off x="914400" y="5440680"/>
            <a:ext cx="10378440" cy="365760"/>
          </a:xfrm>
          <a:prstGeom prst="rect">
            <a:avLst/>
          </a:prstGeom>
          <a:noFill/>
          <a:ln/>
        </p:spPr>
        <p:txBody>
          <a:bodyPr wrap="square" lIns="0" tIns="0" rIns="0" bIns="0" rtlCol="0" anchor="t"/>
          <a:lstStyle/>
          <a:p>
            <a:pPr algn="r" indent="0" marL="0">
              <a:lnSpc>
                <a:spcPct val="115000"/>
              </a:lnSpc>
              <a:buNone/>
            </a:pPr>
            <a:r>
              <a:rPr lang="en-US" sz="1500" b="1" dirty="0">
                <a:solidFill>
                  <a:schemeClr val="tx2"/>
                </a:solidFill>
              </a:rPr>
              <a:t>株式会社Uchi care　代表　榎本健太</a:t>
            </a:r>
            <a:endParaRPr lang="en-US" sz="1500" dirty="0"/>
          </a:p>
        </p:txBody>
      </p:sp>
      <p:sp>
        <p:nvSpPr>
          <p:cNvPr id="25" name="Slide Number Placeholder 0"/>
          <p:cNvSpPr>
            <a:spLocks noGrp="1"/>
          </p:cNvSpPr>
          <p:nvPr>
            <p:ph type="sldNum" sz="quarter" idx="4294967295"/>
          </p:nvPr>
        </p:nvSpPr>
        <p:spPr>
          <a:xfrm>
            <a:off x="548640" y="635508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1"/>
                </a:solidFill>
              </a:defRPr>
            </a:lvl1pPr>
          </a:lstStyle>
          <a:p>
            <a:pPr algn="l"/>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公開前の確認リスト（1/2）</a:t>
            </a:r>
            <a:endParaRPr lang="en-US" sz="3000" dirty="0"/>
          </a:p>
        </p:txBody>
      </p:sp>
      <p:sp>
        <p:nvSpPr>
          <p:cNvPr id="3" name="check 基本情報"/>
          <p:cNvSpPr/>
          <p:nvPr/>
        </p:nvSpPr>
        <p:spPr>
          <a:xfrm>
            <a:off x="548640" y="1325880"/>
            <a:ext cx="5440680" cy="4754880"/>
          </a:xfrm>
          <a:prstGeom prst="roundRect">
            <a:avLst>
              <a:gd name="adj" fmla="val 2308"/>
            </a:avLst>
          </a:prstGeom>
          <a:solidFill>
            <a:schemeClr val="bg2"/>
          </a:solidFill>
          <a:ln/>
        </p:spPr>
      </p:sp>
      <p:sp>
        <p:nvSpPr>
          <p:cNvPr id="4" name="Text 2"/>
          <p:cNvSpPr txBox="1"/>
          <p:nvPr/>
        </p:nvSpPr>
        <p:spPr>
          <a:xfrm>
            <a:off x="822960" y="1463040"/>
            <a:ext cx="4937760" cy="365760"/>
          </a:xfrm>
          <a:prstGeom prst="rect">
            <a:avLst/>
          </a:prstGeom>
          <a:noFill/>
          <a:ln/>
        </p:spPr>
        <p:txBody>
          <a:bodyPr wrap="square" lIns="0" tIns="0" rIns="0" bIns="0" rtlCol="0" anchor="t"/>
          <a:lstStyle/>
          <a:p>
            <a:pPr indent="0" marL="0">
              <a:lnSpc>
                <a:spcPct val="115000"/>
              </a:lnSpc>
              <a:buNone/>
            </a:pPr>
            <a:r>
              <a:rPr lang="en-US" sz="1700" b="1" dirty="0">
                <a:solidFill>
                  <a:schemeClr val="tx2"/>
                </a:solidFill>
              </a:rPr>
              <a:t>基本情報</a:t>
            </a:r>
            <a:endParaRPr lang="en-US" sz="1700" dirty="0"/>
          </a:p>
        </p:txBody>
      </p:sp>
      <p:sp>
        <p:nvSpPr>
          <p:cNvPr id="5" name="Text 3"/>
          <p:cNvSpPr txBox="1"/>
          <p:nvPr/>
        </p:nvSpPr>
        <p:spPr>
          <a:xfrm>
            <a:off x="822960" y="1920240"/>
            <a:ext cx="4937760" cy="4023360"/>
          </a:xfrm>
          <a:prstGeom prst="rect">
            <a:avLst/>
          </a:prstGeom>
          <a:noFill/>
          <a:ln/>
        </p:spPr>
        <p:txBody>
          <a:bodyPr wrap="square" lIns="0" tIns="0" rIns="0" bIns="0" rtlCol="0" anchor="t"/>
          <a:lstStyle/>
          <a:p>
            <a:pPr marL="254000" indent="-254000">
              <a:lnSpc>
                <a:spcPct val="110000"/>
              </a:lnSpc>
              <a:spcAft>
                <a:spcPts val="700"/>
              </a:spcAft>
              <a:buSzPct val="100000"/>
              <a:buChar char="☐"/>
            </a:pPr>
            <a:r>
              <a:rPr lang="en-US" sz="1400" dirty="0">
                <a:solidFill>
                  <a:schemeClr val="tx1"/>
                </a:solidFill>
              </a:rPr>
              <a:t>本社所在地と、うちケアプランセンター（勤務地）の所在地をそれぞれ確認し、混同しない</a:t>
            </a:r>
            <a:endParaRPr lang="en-US" sz="1400" dirty="0"/>
          </a:p>
          <a:p>
            <a:pPr marL="254000" indent="-254000">
              <a:lnSpc>
                <a:spcPct val="110000"/>
              </a:lnSpc>
              <a:spcAft>
                <a:spcPts val="700"/>
              </a:spcAft>
              <a:buSzPct val="100000"/>
              <a:buChar char="☐"/>
            </a:pPr>
            <a:r>
              <a:rPr lang="en-US" sz="1400" dirty="0">
                <a:solidFill>
                  <a:schemeClr val="tx1"/>
                </a:solidFill>
              </a:rPr>
              <a:t>事業種別（居宅介護支援事業所）の表記、指定番号を掲載するか</a:t>
            </a:r>
            <a:endParaRPr lang="en-US" sz="1400" dirty="0"/>
          </a:p>
          <a:p>
            <a:pPr marL="254000" indent="-254000">
              <a:lnSpc>
                <a:spcPct val="110000"/>
              </a:lnSpc>
              <a:spcAft>
                <a:spcPts val="700"/>
              </a:spcAft>
              <a:buSzPct val="100000"/>
              <a:buChar char="☐"/>
            </a:pPr>
            <a:r>
              <a:rPr lang="en-US" sz="1400" dirty="0">
                <a:solidFill>
                  <a:schemeClr val="tx1"/>
                </a:solidFill>
              </a:rPr>
              <a:t>関連事業（訪問看護・リハビリテーション）の正式名称と、ケアマネとの連携の実態</a:t>
            </a:r>
            <a:endParaRPr lang="en-US" sz="1400" dirty="0"/>
          </a:p>
          <a:p>
            <a:pPr marL="254000" indent="-254000">
              <a:lnSpc>
                <a:spcPct val="110000"/>
              </a:lnSpc>
              <a:spcAft>
                <a:spcPts val="700"/>
              </a:spcAft>
              <a:buSzPct val="100000"/>
              <a:buChar char="☐"/>
            </a:pPr>
            <a:r>
              <a:rPr lang="en-US" sz="1400" dirty="0">
                <a:solidFill>
                  <a:schemeClr val="tx1"/>
                </a:solidFill>
              </a:rPr>
              <a:t>理念の表記（「誰1人」「創る」など）が公式表記と一致しているか</a:t>
            </a:r>
            <a:endParaRPr lang="en-US" sz="1400" dirty="0"/>
          </a:p>
          <a:p>
            <a:pPr marL="254000" indent="-254000">
              <a:lnSpc>
                <a:spcPct val="110000"/>
              </a:lnSpc>
              <a:spcAft>
                <a:spcPts val="700"/>
              </a:spcAft>
              <a:buSzPct val="100000"/>
              <a:buChar char="☐"/>
            </a:pPr>
            <a:r>
              <a:rPr lang="en-US" sz="1400" dirty="0">
                <a:solidFill>
                  <a:schemeClr val="tx1"/>
                </a:solidFill>
              </a:rPr>
              <a:t>正式ロゴデータ（高解像度・使用ルール）の入手</a:t>
            </a:r>
            <a:endParaRPr lang="en-US" sz="1400" dirty="0"/>
          </a:p>
        </p:txBody>
      </p:sp>
      <p:sp>
        <p:nvSpPr>
          <p:cNvPr id="6" name="check 募集条件"/>
          <p:cNvSpPr/>
          <p:nvPr/>
        </p:nvSpPr>
        <p:spPr>
          <a:xfrm>
            <a:off x="6217920" y="1325880"/>
            <a:ext cx="5440680" cy="4754880"/>
          </a:xfrm>
          <a:prstGeom prst="roundRect">
            <a:avLst>
              <a:gd name="adj" fmla="val 2308"/>
            </a:avLst>
          </a:prstGeom>
          <a:solidFill>
            <a:schemeClr val="bg2"/>
          </a:solidFill>
          <a:ln/>
        </p:spPr>
      </p:sp>
      <p:sp>
        <p:nvSpPr>
          <p:cNvPr id="7" name="Text 5"/>
          <p:cNvSpPr txBox="1"/>
          <p:nvPr/>
        </p:nvSpPr>
        <p:spPr>
          <a:xfrm>
            <a:off x="6492240" y="1463040"/>
            <a:ext cx="4937760" cy="365760"/>
          </a:xfrm>
          <a:prstGeom prst="rect">
            <a:avLst/>
          </a:prstGeom>
          <a:noFill/>
          <a:ln/>
        </p:spPr>
        <p:txBody>
          <a:bodyPr wrap="square" lIns="0" tIns="0" rIns="0" bIns="0" rtlCol="0" anchor="t"/>
          <a:lstStyle/>
          <a:p>
            <a:pPr indent="0" marL="0">
              <a:lnSpc>
                <a:spcPct val="115000"/>
              </a:lnSpc>
              <a:buNone/>
            </a:pPr>
            <a:r>
              <a:rPr lang="en-US" sz="1700" b="1" dirty="0">
                <a:solidFill>
                  <a:schemeClr val="tx2"/>
                </a:solidFill>
              </a:rPr>
              <a:t>募集条件</a:t>
            </a:r>
            <a:endParaRPr lang="en-US" sz="1700" dirty="0"/>
          </a:p>
        </p:txBody>
      </p:sp>
      <p:sp>
        <p:nvSpPr>
          <p:cNvPr id="8" name="Text 6"/>
          <p:cNvSpPr txBox="1"/>
          <p:nvPr/>
        </p:nvSpPr>
        <p:spPr>
          <a:xfrm>
            <a:off x="6492240" y="1920240"/>
            <a:ext cx="4937760" cy="4023360"/>
          </a:xfrm>
          <a:prstGeom prst="rect">
            <a:avLst/>
          </a:prstGeom>
          <a:noFill/>
          <a:ln/>
        </p:spPr>
        <p:txBody>
          <a:bodyPr wrap="square" lIns="0" tIns="0" rIns="0" bIns="0" rtlCol="0" anchor="t"/>
          <a:lstStyle/>
          <a:p>
            <a:pPr marL="254000" indent="-254000">
              <a:lnSpc>
                <a:spcPct val="110000"/>
              </a:lnSpc>
              <a:spcAft>
                <a:spcPts val="700"/>
              </a:spcAft>
              <a:buSzPct val="100000"/>
              <a:buChar char="☐"/>
            </a:pPr>
            <a:r>
              <a:rPr lang="en-US" sz="1400" dirty="0">
                <a:solidFill>
                  <a:schemeClr val="tx1"/>
                </a:solidFill>
              </a:rPr>
              <a:t>募集職種・雇用形態、試用期間、社会保険・各種手当</a:t>
            </a:r>
            <a:endParaRPr lang="en-US" sz="1400" dirty="0"/>
          </a:p>
          <a:p>
            <a:pPr marL="254000" indent="-254000">
              <a:lnSpc>
                <a:spcPct val="110000"/>
              </a:lnSpc>
              <a:spcAft>
                <a:spcPts val="700"/>
              </a:spcAft>
              <a:buSzPct val="100000"/>
              <a:buChar char="☐"/>
            </a:pPr>
            <a:r>
              <a:rPr lang="en-US" sz="1400" dirty="0">
                <a:solidFill>
                  <a:schemeClr val="tx1"/>
                </a:solidFill>
              </a:rPr>
              <a:t>応募資格：実務経験の要否、未経験者・主任ケアマネジャーの募集可否、運転免許の要否</a:t>
            </a:r>
            <a:endParaRPr lang="en-US" sz="1400" dirty="0"/>
          </a:p>
          <a:p>
            <a:pPr marL="254000" indent="-254000">
              <a:lnSpc>
                <a:spcPct val="110000"/>
              </a:lnSpc>
              <a:spcAft>
                <a:spcPts val="700"/>
              </a:spcAft>
              <a:buSzPct val="100000"/>
              <a:buChar char="☐"/>
            </a:pPr>
            <a:r>
              <a:rPr lang="en-US" sz="1400" dirty="0">
                <a:solidFill>
                  <a:schemeClr val="tx1"/>
                </a:solidFill>
              </a:rPr>
              <a:t>給与28万〜33万円：月給か、基本給と手当の内訳、みなし残業の時間数と金額、超過分の支払い</a:t>
            </a:r>
            <a:endParaRPr lang="en-US" sz="1400" dirty="0"/>
          </a:p>
          <a:p>
            <a:pPr marL="254000" indent="-254000">
              <a:lnSpc>
                <a:spcPct val="110000"/>
              </a:lnSpc>
              <a:spcAft>
                <a:spcPts val="700"/>
              </a:spcAft>
              <a:buSzPct val="100000"/>
              <a:buChar char="☐"/>
            </a:pPr>
            <a:r>
              <a:rPr lang="en-US" sz="1400" dirty="0">
                <a:solidFill>
                  <a:schemeClr val="tx1"/>
                </a:solidFill>
              </a:rPr>
              <a:t>勤務時間・休憩</a:t>
            </a:r>
            <a:endParaRPr lang="en-US" sz="1400" dirty="0"/>
          </a:p>
          <a:p>
            <a:pPr marL="254000" indent="-254000">
              <a:lnSpc>
                <a:spcPct val="110000"/>
              </a:lnSpc>
              <a:spcAft>
                <a:spcPts val="700"/>
              </a:spcAft>
              <a:buSzPct val="100000"/>
              <a:buChar char="☐"/>
            </a:pPr>
            <a:r>
              <a:rPr lang="en-US" sz="1400" dirty="0">
                <a:solidFill>
                  <a:schemeClr val="tx1"/>
                </a:solidFill>
              </a:rPr>
              <a:t>年間休日121日以上の算定条件と休日の曜日／リフレッシュ休暇3日間の取得条件（勤続要件・時期）</a:t>
            </a:r>
            <a:endParaRPr lang="en-US" sz="1400" dirty="0"/>
          </a:p>
          <a:p>
            <a:pPr marL="254000" indent="-254000">
              <a:lnSpc>
                <a:spcPct val="110000"/>
              </a:lnSpc>
              <a:spcAft>
                <a:spcPts val="700"/>
              </a:spcAft>
              <a:buSzPct val="100000"/>
              <a:buChar char="☐"/>
            </a:pPr>
            <a:r>
              <a:rPr lang="en-US" sz="1400" dirty="0">
                <a:solidFill>
                  <a:schemeClr val="tx1"/>
                </a:solidFill>
              </a:rPr>
              <a:t>研修費補助の対象研修（法定研修を含むか）・上限・申請方法</a:t>
            </a:r>
            <a:endParaRPr lang="en-US" sz="1400" dirty="0"/>
          </a:p>
        </p:txBody>
      </p:sp>
      <p:sp>
        <p:nvSpPr>
          <p:cNvPr id="25" name="Slide Number Placeholder 0"/>
          <p:cNvSpPr>
            <a:spLocks noGrp="1"/>
          </p:cNvSpPr>
          <p:nvPr>
            <p:ph type="sldNum" sz="quarter" idx="4294967295"/>
          </p:nvPr>
        </p:nvSpPr>
        <p:spPr>
          <a:xfrm>
            <a:off x="548640" y="635508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1"/>
                </a:solidFill>
              </a:defRPr>
            </a:lvl1pPr>
          </a:lstStyle>
          <a:p>
            <a:pPr algn="l"/>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公開前の確認リスト（2/2）</a:t>
            </a:r>
            <a:endParaRPr lang="en-US" sz="3000" dirty="0"/>
          </a:p>
        </p:txBody>
      </p:sp>
      <p:sp>
        <p:nvSpPr>
          <p:cNvPr id="3" name="check 働き方・体制"/>
          <p:cNvSpPr/>
          <p:nvPr/>
        </p:nvSpPr>
        <p:spPr>
          <a:xfrm>
            <a:off x="548640" y="1325880"/>
            <a:ext cx="5440680" cy="4754880"/>
          </a:xfrm>
          <a:prstGeom prst="roundRect">
            <a:avLst>
              <a:gd name="adj" fmla="val 2308"/>
            </a:avLst>
          </a:prstGeom>
          <a:solidFill>
            <a:schemeClr val="bg2"/>
          </a:solidFill>
          <a:ln/>
        </p:spPr>
      </p:sp>
      <p:sp>
        <p:nvSpPr>
          <p:cNvPr id="4" name="Text 2"/>
          <p:cNvSpPr txBox="1"/>
          <p:nvPr/>
        </p:nvSpPr>
        <p:spPr>
          <a:xfrm>
            <a:off x="822960" y="1463040"/>
            <a:ext cx="4937760" cy="365760"/>
          </a:xfrm>
          <a:prstGeom prst="rect">
            <a:avLst/>
          </a:prstGeom>
          <a:noFill/>
          <a:ln/>
        </p:spPr>
        <p:txBody>
          <a:bodyPr wrap="square" lIns="0" tIns="0" rIns="0" bIns="0" rtlCol="0" anchor="t"/>
          <a:lstStyle/>
          <a:p>
            <a:pPr indent="0" marL="0">
              <a:lnSpc>
                <a:spcPct val="115000"/>
              </a:lnSpc>
              <a:buNone/>
            </a:pPr>
            <a:r>
              <a:rPr lang="en-US" sz="1700" b="1" dirty="0">
                <a:solidFill>
                  <a:schemeClr val="tx2"/>
                </a:solidFill>
              </a:rPr>
              <a:t>働き方・体制</a:t>
            </a:r>
            <a:endParaRPr lang="en-US" sz="1700" dirty="0"/>
          </a:p>
        </p:txBody>
      </p:sp>
      <p:sp>
        <p:nvSpPr>
          <p:cNvPr id="5" name="Text 3"/>
          <p:cNvSpPr txBox="1"/>
          <p:nvPr/>
        </p:nvSpPr>
        <p:spPr>
          <a:xfrm>
            <a:off x="822960" y="1920240"/>
            <a:ext cx="4937760" cy="4023360"/>
          </a:xfrm>
          <a:prstGeom prst="rect">
            <a:avLst/>
          </a:prstGeom>
          <a:noFill/>
          <a:ln/>
        </p:spPr>
        <p:txBody>
          <a:bodyPr wrap="square" lIns="0" tIns="0" rIns="0" bIns="0" rtlCol="0" anchor="t"/>
          <a:lstStyle/>
          <a:p>
            <a:pPr marL="254000" indent="-254000">
              <a:lnSpc>
                <a:spcPct val="110000"/>
              </a:lnSpc>
              <a:spcAft>
                <a:spcPts val="700"/>
              </a:spcAft>
              <a:buSzPct val="100000"/>
              <a:buChar char="☐"/>
            </a:pPr>
            <a:r>
              <a:rPr lang="en-US" sz="1400" dirty="0">
                <a:solidFill>
                  <a:schemeClr val="tx1"/>
                </a:solidFill>
              </a:rPr>
              <a:t>貸与端末（PC・スマホ・タブレット）の対象・台数・使用システム</a:t>
            </a:r>
            <a:endParaRPr lang="en-US" sz="1400" dirty="0"/>
          </a:p>
          <a:p>
            <a:pPr marL="254000" indent="-254000">
              <a:lnSpc>
                <a:spcPct val="110000"/>
              </a:lnSpc>
              <a:spcAft>
                <a:spcPts val="700"/>
              </a:spcAft>
              <a:buSzPct val="100000"/>
              <a:buChar char="☐"/>
            </a:pPr>
            <a:r>
              <a:rPr lang="en-US" sz="1400" dirty="0">
                <a:solidFill>
                  <a:schemeClr val="tx1"/>
                </a:solidFill>
              </a:rPr>
              <a:t>社有車の貸与条件（専用か共用か、利用ルール）</a:t>
            </a:r>
            <a:endParaRPr lang="en-US" sz="1400" dirty="0"/>
          </a:p>
          <a:p>
            <a:pPr marL="254000" indent="-254000">
              <a:lnSpc>
                <a:spcPct val="110000"/>
              </a:lnSpc>
              <a:spcAft>
                <a:spcPts val="700"/>
              </a:spcAft>
              <a:buSzPct val="100000"/>
              <a:buChar char="☐"/>
            </a:pPr>
            <a:r>
              <a:rPr lang="en-US" sz="1400" dirty="0">
                <a:solidFill>
                  <a:schemeClr val="tx1"/>
                </a:solidFill>
              </a:rPr>
              <a:t>「経験豊富なケアマネジャーによる支援体制」の具体（相談先・方法）※人数・頻度は事実のみ掲載</a:t>
            </a:r>
            <a:endParaRPr lang="en-US" sz="1400" dirty="0"/>
          </a:p>
          <a:p>
            <a:pPr marL="254000" indent="-254000">
              <a:lnSpc>
                <a:spcPct val="110000"/>
              </a:lnSpc>
              <a:spcAft>
                <a:spcPts val="700"/>
              </a:spcAft>
              <a:buSzPct val="100000"/>
              <a:buChar char="☐"/>
            </a:pPr>
            <a:r>
              <a:rPr lang="en-US" sz="1400" dirty="0">
                <a:solidFill>
                  <a:schemeClr val="tx1"/>
                </a:solidFill>
              </a:rPr>
              <a:t>入職後の流れ（同行訪問、引き継ぎ、担当件数の増やし方）</a:t>
            </a:r>
            <a:endParaRPr lang="en-US" sz="1400" dirty="0"/>
          </a:p>
          <a:p>
            <a:pPr marL="254000" indent="-254000">
              <a:lnSpc>
                <a:spcPct val="110000"/>
              </a:lnSpc>
              <a:spcAft>
                <a:spcPts val="700"/>
              </a:spcAft>
              <a:buSzPct val="100000"/>
              <a:buChar char="☐"/>
            </a:pPr>
            <a:r>
              <a:rPr lang="en-US" sz="1400" dirty="0">
                <a:solidFill>
                  <a:schemeClr val="tx1"/>
                </a:solidFill>
              </a:rPr>
              <a:t>担当件数の目安、担当エリア、給付管理・請求業務の分担</a:t>
            </a:r>
            <a:endParaRPr lang="en-US" sz="1400" dirty="0"/>
          </a:p>
          <a:p>
            <a:pPr marL="254000" indent="-254000">
              <a:lnSpc>
                <a:spcPct val="110000"/>
              </a:lnSpc>
              <a:spcAft>
                <a:spcPts val="700"/>
              </a:spcAft>
              <a:buSzPct val="100000"/>
              <a:buChar char="☐"/>
            </a:pPr>
            <a:r>
              <a:rPr lang="en-US" sz="1400" dirty="0">
                <a:solidFill>
                  <a:schemeClr val="tx1"/>
                </a:solidFill>
              </a:rPr>
              <a:t>直行直帰・在宅勤務・残業の状況（掲載する場合は実績の根拠を確認）</a:t>
            </a:r>
            <a:endParaRPr lang="en-US" sz="1400" dirty="0"/>
          </a:p>
        </p:txBody>
      </p:sp>
      <p:sp>
        <p:nvSpPr>
          <p:cNvPr id="6" name="check 選考・素材"/>
          <p:cNvSpPr/>
          <p:nvPr/>
        </p:nvSpPr>
        <p:spPr>
          <a:xfrm>
            <a:off x="6217920" y="1325880"/>
            <a:ext cx="5440680" cy="4754880"/>
          </a:xfrm>
          <a:prstGeom prst="roundRect">
            <a:avLst>
              <a:gd name="adj" fmla="val 2308"/>
            </a:avLst>
          </a:prstGeom>
          <a:solidFill>
            <a:schemeClr val="bg2"/>
          </a:solidFill>
          <a:ln/>
        </p:spPr>
      </p:sp>
      <p:sp>
        <p:nvSpPr>
          <p:cNvPr id="7" name="Text 5"/>
          <p:cNvSpPr txBox="1"/>
          <p:nvPr/>
        </p:nvSpPr>
        <p:spPr>
          <a:xfrm>
            <a:off x="6492240" y="1463040"/>
            <a:ext cx="4937760" cy="365760"/>
          </a:xfrm>
          <a:prstGeom prst="rect">
            <a:avLst/>
          </a:prstGeom>
          <a:noFill/>
          <a:ln/>
        </p:spPr>
        <p:txBody>
          <a:bodyPr wrap="square" lIns="0" tIns="0" rIns="0" bIns="0" rtlCol="0" anchor="t"/>
          <a:lstStyle/>
          <a:p>
            <a:pPr indent="0" marL="0">
              <a:lnSpc>
                <a:spcPct val="115000"/>
              </a:lnSpc>
              <a:buNone/>
            </a:pPr>
            <a:r>
              <a:rPr lang="en-US" sz="1700" b="1" dirty="0">
                <a:solidFill>
                  <a:schemeClr val="tx2"/>
                </a:solidFill>
              </a:rPr>
              <a:t>選考・素材</a:t>
            </a:r>
            <a:endParaRPr lang="en-US" sz="1700" dirty="0"/>
          </a:p>
        </p:txBody>
      </p:sp>
      <p:sp>
        <p:nvSpPr>
          <p:cNvPr id="8" name="Text 6"/>
          <p:cNvSpPr txBox="1"/>
          <p:nvPr/>
        </p:nvSpPr>
        <p:spPr>
          <a:xfrm>
            <a:off x="6492240" y="1920240"/>
            <a:ext cx="4937760" cy="4023360"/>
          </a:xfrm>
          <a:prstGeom prst="rect">
            <a:avLst/>
          </a:prstGeom>
          <a:noFill/>
          <a:ln/>
        </p:spPr>
        <p:txBody>
          <a:bodyPr wrap="square" lIns="0" tIns="0" rIns="0" bIns="0" rtlCol="0" anchor="t"/>
          <a:lstStyle/>
          <a:p>
            <a:pPr marL="254000" indent="-254000">
              <a:lnSpc>
                <a:spcPct val="110000"/>
              </a:lnSpc>
              <a:spcAft>
                <a:spcPts val="700"/>
              </a:spcAft>
              <a:buSzPct val="100000"/>
              <a:buChar char="☐"/>
            </a:pPr>
            <a:r>
              <a:rPr lang="en-US" sz="1400" dirty="0">
                <a:solidFill>
                  <a:schemeClr val="tx1"/>
                </a:solidFill>
              </a:rPr>
              <a:t>見学・応募前面談の実施可否、所要時間、選考フロー</a:t>
            </a:r>
            <a:endParaRPr lang="en-US" sz="1400" dirty="0"/>
          </a:p>
          <a:p>
            <a:pPr marL="254000" indent="-254000">
              <a:lnSpc>
                <a:spcPct val="110000"/>
              </a:lnSpc>
              <a:spcAft>
                <a:spcPts val="700"/>
              </a:spcAft>
              <a:buSzPct val="100000"/>
              <a:buChar char="☐"/>
            </a:pPr>
            <a:r>
              <a:rPr lang="en-US" sz="1400" dirty="0">
                <a:solidFill>
                  <a:schemeClr val="tx1"/>
                </a:solidFill>
              </a:rPr>
              <a:t>応募方法・お問い合わせ先（担当者名・電話・メール・フォーム）</a:t>
            </a:r>
            <a:endParaRPr lang="en-US" sz="1400" dirty="0"/>
          </a:p>
          <a:p>
            <a:pPr marL="254000" indent="-254000">
              <a:lnSpc>
                <a:spcPct val="110000"/>
              </a:lnSpc>
              <a:spcAft>
                <a:spcPts val="700"/>
              </a:spcAft>
              <a:buSzPct val="100000"/>
              <a:buChar char="☐"/>
            </a:pPr>
            <a:r>
              <a:rPr lang="en-US" sz="1400" dirty="0">
                <a:solidFill>
                  <a:schemeClr val="tx1"/>
                </a:solidFill>
              </a:rPr>
              <a:t>集合写真：写っている全員の掲載同意、撮影時期、所属（法人全体の写真であること）</a:t>
            </a:r>
            <a:endParaRPr lang="en-US" sz="1400" dirty="0"/>
          </a:p>
          <a:p>
            <a:pPr marL="254000" indent="-254000">
              <a:lnSpc>
                <a:spcPct val="110000"/>
              </a:lnSpc>
              <a:spcAft>
                <a:spcPts val="700"/>
              </a:spcAft>
              <a:buSzPct val="100000"/>
              <a:buChar char="☐"/>
            </a:pPr>
            <a:r>
              <a:rPr lang="en-US" sz="1400" dirty="0">
                <a:solidFill>
                  <a:schemeClr val="tx1"/>
                </a:solidFill>
              </a:rPr>
              <a:t>外観・室内写真が事業所のものか、掲載可否／端末・社有車の写真撮影</a:t>
            </a:r>
            <a:endParaRPr lang="en-US" sz="1400" dirty="0"/>
          </a:p>
          <a:p>
            <a:pPr marL="254000" indent="-254000">
              <a:lnSpc>
                <a:spcPct val="110000"/>
              </a:lnSpc>
              <a:spcAft>
                <a:spcPts val="700"/>
              </a:spcAft>
              <a:buSzPct val="100000"/>
              <a:buChar char="☐"/>
            </a:pPr>
            <a:r>
              <a:rPr lang="en-US" sz="1400" dirty="0">
                <a:solidFill>
                  <a:schemeClr val="tx1"/>
                </a:solidFill>
              </a:rPr>
              <a:t>代表メッセージ原稿案の代表確認</a:t>
            </a:r>
            <a:endParaRPr lang="en-US" sz="1400" dirty="0"/>
          </a:p>
          <a:p>
            <a:pPr marL="254000" indent="-254000">
              <a:lnSpc>
                <a:spcPct val="110000"/>
              </a:lnSpc>
              <a:spcAft>
                <a:spcPts val="700"/>
              </a:spcAft>
              <a:buSzPct val="100000"/>
              <a:buChar char="☐"/>
            </a:pPr>
            <a:r>
              <a:rPr lang="en-US" sz="1400" dirty="0">
                <a:solidFill>
                  <a:schemeClr val="tx1"/>
                </a:solidFill>
              </a:rPr>
              <a:t>資料の作成日・情報の基準日の記載</a:t>
            </a:r>
            <a:endParaRPr lang="en-US" sz="1400" dirty="0"/>
          </a:p>
        </p:txBody>
      </p:sp>
      <p:sp>
        <p:nvSpPr>
          <p:cNvPr id="25" name="Slide Number Placeholder 0"/>
          <p:cNvSpPr>
            <a:spLocks noGrp="1"/>
          </p:cNvSpPr>
          <p:nvPr>
            <p:ph type="sldNum" sz="quarter" idx="4294967295"/>
          </p:nvPr>
        </p:nvSpPr>
        <p:spPr>
          <a:xfrm>
            <a:off x="548640" y="635508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1"/>
                </a:solidFill>
              </a:defRPr>
            </a:lvl1pPr>
          </a:lstStyle>
          <a:p>
            <a:pPr algn="l"/>
            <a:fld id="{F7021451-1387-4CA6-816F-3879F97B5CBC}" type="slidenum">
              <a:rPr b="1" lang="en-US"/>
              <a:t>15</a:t>
            </a:fld>
            <a:endParaRPr lang="en-US"/>
          </a:p>
        </p:txBody>
      </p:sp>
    </p:spTree>
  </p:cSld>
  <p:clrMapOvr>
    <a:masterClrMapping/>
  </p:clrMapOvr>
</p:sld>
</file>

<file path=ppt/theme/theme1.xml><?xml version="1.0" encoding="utf-8"?>
<a:theme xmlns:a="http://schemas.openxmlformats.org/drawingml/2006/main" name="Uchi care Recruit">
  <a:themeElements>
    <a:clrScheme name="Uchi care Recruit">
      <a:dk1>
        <a:srgbClr val="33475B"/>
      </a:dk1>
      <a:lt1>
        <a:srgbClr val="FFFFFF"/>
      </a:lt1>
      <a:dk2>
        <a:srgbClr val="2F5D4A"/>
      </a:dk2>
      <a:lt2>
        <a:srgbClr val="F4EEE3"/>
      </a:lt2>
      <a:accent1>
        <a:srgbClr val="4A7C64"/>
      </a:accent1>
      <a:accent2>
        <a:srgbClr val="C8A95E"/>
      </a:accent2>
      <a:accent3>
        <a:srgbClr val="DCE8E0"/>
      </a:accent3>
      <a:accent4>
        <a:srgbClr val="E6D9C3"/>
      </a:accent4>
      <a:accent5>
        <a:srgbClr val="6E7F8D"/>
      </a:accent5>
      <a:accent6>
        <a:srgbClr val="B4572E"/>
      </a:accent6>
      <a:hlink>
        <a:srgbClr val="4A7C64"/>
      </a:hlink>
      <a:folHlink>
        <a:srgbClr val="2F5D4A"/>
      </a:folHlink>
    </a:clrScheme>
    <a:fontScheme name="Uchi care Recruit">
      <a:majorFont>
        <a:latin typeface="Meiryo"/>
        <a:ea typeface="Meiryo"/>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Meiryo"/>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株式会社Uchi care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うちケアプランセンター 会社説明資料</dc:title>
  <dc:subject>PptxGenJS Presentation</dc:subject>
  <dc:creator>株式会社Uchi care</dc:creator>
  <cp:lastModifiedBy>株式会社Uchi care</cp:lastModifiedBy>
  <cp:revision>1</cp:revision>
  <dcterms:created xsi:type="dcterms:W3CDTF">2026-10-20T04:55:39Z</dcterms:created>
  <dcterms:modified xsi:type="dcterms:W3CDTF">2026-10-20T04:55:39Z</dcterms:modified>
</cp:coreProperties>
</file>